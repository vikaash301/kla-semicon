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bd5f81dfa784c79" Type="http://schemas.openxmlformats.org/officeDocument/2006/relationships/extended-properties" Target="docProps/app.xml"/><Relationship Id="R9ee483d2d4764441" Type="http://schemas.openxmlformats.org/package/2006/relationships/metadata/core-properties" Target="docProps/core.xml"/><Relationship Id="Rf2c010470dd844a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84688c48c420a"/>
  </p:sldMasterIdLst>
  <p:notesMasterIdLst>
    <p:notesMasterId xmlns:r="http://schemas.openxmlformats.org/officeDocument/2006/relationships" r:id="Ra3d3a6c8f0bf4548"/>
  </p:notesMasterIdLst>
  <p:sldIdLst>
    <p:sldId xmlns:r="http://schemas.openxmlformats.org/officeDocument/2006/relationships" id="256" r:id="R8b8eae3a0181412f"/>
    <p:sldId xmlns:r="http://schemas.openxmlformats.org/officeDocument/2006/relationships" id="257" r:id="Rd4ba76d1052549c7"/>
    <p:sldId xmlns:r="http://schemas.openxmlformats.org/officeDocument/2006/relationships" id="258" r:id="Rf961dc1d73be42f0"/>
    <p:sldId xmlns:r="http://schemas.openxmlformats.org/officeDocument/2006/relationships" id="259" r:id="R04dc6155b6914c9c"/>
    <p:sldId xmlns:r="http://schemas.openxmlformats.org/officeDocument/2006/relationships" id="260" r:id="R6ffa307fb02b4b15"/>
    <p:sldId xmlns:ns0="http://schemas.openxmlformats.org/officeDocument/2006/relationships" id="263" ns0:id="rId14"/>
    <p:sldId xmlns:r="http://schemas.openxmlformats.org/officeDocument/2006/relationships" id="261" r:id="Rc531026be97a4339"/>
    <p:sldId xmlns:ns0="http://schemas.openxmlformats.org/officeDocument/2006/relationships" id="264" ns0:id="rId15"/>
    <p:sldId xmlns:r="http://schemas.openxmlformats.org/officeDocument/2006/relationships" id="262" r:id="Rdcb93b05329a4b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4dc6155b6914c9c" Type="http://schemas.openxmlformats.org/officeDocument/2006/relationships/slide" Target="slides/slide4.xml"/><Relationship Id="R1f24b64b437140d5" Type="http://schemas.openxmlformats.org/officeDocument/2006/relationships/viewProps" Target="viewProps.xml"/><Relationship Id="R3cc538e7b3774387" Type="http://schemas.openxmlformats.org/officeDocument/2006/relationships/theme" Target="theme/theme1.xml"/><Relationship Id="R67a84688c48c420a" Type="http://schemas.openxmlformats.org/officeDocument/2006/relationships/slideMaster" Target="slideMasters/slideMaster1.xml"/><Relationship Id="R6ffa307fb02b4b15" Type="http://schemas.openxmlformats.org/officeDocument/2006/relationships/slide" Target="slides/slide5.xml"/><Relationship Id="R8b8eae3a0181412f" Type="http://schemas.openxmlformats.org/officeDocument/2006/relationships/slide" Target="slides/slide1.xml"/><Relationship Id="R9c5075ad8ad44253" Type="http://schemas.openxmlformats.org/officeDocument/2006/relationships/tableStyles" Target="tableStyles.xml"/><Relationship Id="Ra3d3a6c8f0bf4548" Type="http://schemas.openxmlformats.org/officeDocument/2006/relationships/notesMaster" Target="notesMasters/notesMaster1.xml"/><Relationship Id="Rc531026be97a4339" Type="http://schemas.openxmlformats.org/officeDocument/2006/relationships/slide" Target="slides/slide7.xml"/><Relationship Id="Rd4ba76d1052549c7" Type="http://schemas.openxmlformats.org/officeDocument/2006/relationships/slide" Target="slides/slide2.xml"/><Relationship Id="Rdcb93b05329a4bf2" Type="http://schemas.openxmlformats.org/officeDocument/2006/relationships/slide" Target="slides/slide9.xml"/><Relationship Id="Re976a50ca98e4b63" Type="http://schemas.openxmlformats.org/officeDocument/2006/relationships/presProps" Target="presProps.xml"/><Relationship Id="Rf961dc1d73be42f0" Type="http://schemas.openxmlformats.org/officeDocument/2006/relationships/slide" Target="slides/slide3.xml"/><Relationship Id="rId14" Type="http://schemas.openxmlformats.org/officeDocument/2006/relationships/slide" Target="slides/slide6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dba8cd55825f4d6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7700650e8df452d" Type="http://schemas.openxmlformats.org/officeDocument/2006/relationships/notesMaster" Target="../notesMasters/notesMaster1.xml"/><Relationship Id="R457597636442494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8242c09b9d749a7" Type="http://schemas.openxmlformats.org/officeDocument/2006/relationships/notesMaster" Target="../notesMasters/notesMaster1.xml"/><Relationship Id="R8c1d5c001621447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bdbd92409c64f8f" Type="http://schemas.openxmlformats.org/officeDocument/2006/relationships/notesMaster" Target="../notesMasters/notesMaster1.xml"/><Relationship Id="R64744aacc3f1453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635560ee6af4f3b" Type="http://schemas.openxmlformats.org/officeDocument/2006/relationships/slide" Target="../slides/slide4.xml"/><Relationship Id="Rc7297456c0c24a7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ab4ff02b7134791" Type="http://schemas.openxmlformats.org/officeDocument/2006/relationships/slide" Target="../slides/slide5.xml"/><Relationship Id="R69f5c6e5af0f4d3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810afc8caf844ff" Type="http://schemas.openxmlformats.org/officeDocument/2006/relationships/notesMaster" Target="../notesMasters/notesMaster1.xml"/><Relationship Id="R5dadc83e141544f8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67ca368197be41e2" Type="http://schemas.openxmlformats.org/officeDocument/2006/relationships/notesMaster" Target="../notesMasters/notesMaster1.xml"/><Relationship Id="R9679698c024143b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https://openaccess.thecvf.com/content/CVPR2026/html/Tan_UCAN_Unified_Convolutional_Attention_Network_for_Expansive_Receptive_Fields_in_CVPR_2026_paper.html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checkpoint and training logs; see README.md and artifacts/metrics/model_metrics.json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paired ablation reports: artifacts/metrics/model_metrics.json and outputs/validation/metrics.json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benchmark: artifacts/metrics/benchmark_fp32.json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https://openaccess.thecvf.com/content/CVPR2026/html/Tan_UCAN_Unified_Convolutional_Attention_Network_for_Expansive_Receptive_Fields_in_CVPR_2026_paper.html</a:t>
            </a:r>
            <a:endParaRPr/>
          </a:p>
          <a:p xmlns:a="http://schemas.openxmlformats.org/drawingml/2006/main">
            <a:r>
              <a:t>- https://openaccess.thecvf.com/content/CVPR2026/html/Zeng_ShiftLUT_Spatial_Shift_Enhanced_Look-Up_Tables_for_Efficient_Image_Restoration_CVPR_2026_paper.html</a:t>
            </a:r>
            <a:endParaRPr/>
          </a:p>
          <a:p xmlns:a="http://schemas.openxmlformats.org/drawingml/2006/main">
            <a:r>
              <a:t>- https://i4c.in/hackathon-2026/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030e8cce0d24c2e" Type="http://schemas.openxmlformats.org/officeDocument/2006/relationships/image" Target="../media/image.jpeg"/><Relationship Id="R0689d50c21db45cb" Type="http://schemas.openxmlformats.org/officeDocument/2006/relationships/slideMaster" Target="../slideMasters/slideMaster1.xml"/><Relationship Id="R3e78b61bb3734c8f" Type="http://schemas.openxmlformats.org/officeDocument/2006/relationships/image" Target="../media/image.png"/><Relationship Id="R44857ba6a95a4e62" Type="http://schemas.openxmlformats.org/officeDocument/2006/relationships/image" Target="../media/image2.png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 0">
            <a:extLst xmlns:a="http://schemas.openxmlformats.org/drawingml/2006/main"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0e8cce0d24c2e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5" name="Shape 1">
            <a:extLst xmlns:a="http://schemas.openxmlformats.org/drawingml/2006/main"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8b61bb3734c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pic>
        <p:nvPicPr>
          <p:cNvPr id="43" name="Picture 2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57ba6a95a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356" y="381305"/>
            <a:ext cx="5745480" cy="46736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<?xml version='1.0' encoding='UTF-8' standalone='yes'?>
<Relationships xmlns="http://schemas.openxmlformats.org/package/2006/relationships"><Relationship Id="R3bd1e8cbd0974181" Type="http://schemas.openxmlformats.org/officeDocument/2006/relationships/theme" Target="theme/theme2.xml"/><Relationship Id="Rc44a6ec30c3b4e8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a6ec30c3b4e8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f8c15a862048bb" Type="http://schemas.openxmlformats.org/officeDocument/2006/relationships/image" Target="../media/image5.png"/><Relationship Id="R48566c8e13d04035" Type="http://schemas.openxmlformats.org/officeDocument/2006/relationships/image" Target="../media/image6.png"/><Relationship Id="R5391561ef8b0416b" Type="http://schemas.openxmlformats.org/officeDocument/2006/relationships/slideLayout" Target="../slideLayouts/slideLayout1.xml"/><Relationship Id="R7e5825a1d7e548e0" Type="http://schemas.openxmlformats.org/officeDocument/2006/relationships/image" Target="../media/image3.png"/><Relationship Id="R8bb6a2a42f034093" Type="http://schemas.openxmlformats.org/officeDocument/2006/relationships/notesSlide" Target="../notesSlides/notesSlide1.xml"/><Relationship Id="R925faf94229446bc" Type="http://schemas.openxmlformats.org/officeDocument/2006/relationships/image" Target="../media/image7.png"/><Relationship Id="Rc8f5c0e0c5214065" Type="http://schemas.openxmlformats.org/officeDocument/2006/relationships/image" Target="../media/image4.png"/><Relationship Id="Rfe2b7baae5de468e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42918757ae004f62" Type="http://schemas.openxmlformats.org/officeDocument/2006/relationships/image" Target="../media/image.jpeg"/><Relationship Id="Rdb761b99c0704df5" Type="http://schemas.openxmlformats.org/officeDocument/2006/relationships/slideLayout" Target="../slideLayouts/slideLayout1.xml"/><Relationship Id="Rdd47218d3c294f4a" Type="http://schemas.openxmlformats.org/officeDocument/2006/relationships/image" Target="../media/image9.png"/><Relationship Id="Rdeb03b77d56645b1" Type="http://schemas.openxmlformats.org/officeDocument/2006/relationships/image" Target="../media/image8.png"/><Relationship Id="Re59382809f7f4f19" Type="http://schemas.openxmlformats.org/officeDocument/2006/relationships/notesSlide" Target="../notesSlides/notesSlide2.xml"/><Relationship Id="Re7d6ea311276450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18cc152659f343a2" Type="http://schemas.openxmlformats.org/officeDocument/2006/relationships/image" Target="../media/image9.png"/><Relationship Id="R4bf5283b14ae485f" Type="http://schemas.openxmlformats.org/officeDocument/2006/relationships/image" Target="../media/image2.jpeg"/><Relationship Id="R72a1ae349e3c4edd" Type="http://schemas.openxmlformats.org/officeDocument/2006/relationships/image" Target="../media/image.jpeg"/><Relationship Id="R894ec9f8017c4c9f" Type="http://schemas.openxmlformats.org/officeDocument/2006/relationships/image" Target="../media/image.png"/><Relationship Id="R8ceceeecf49542ba" Type="http://schemas.openxmlformats.org/officeDocument/2006/relationships/notesSlide" Target="../notesSlides/notesSlide3.xml"/><Relationship Id="Ra3719005d2fc4710" Type="http://schemas.openxmlformats.org/officeDocument/2006/relationships/image" Target="../media/image7.png"/><Relationship Id="Rdbc782a34ba049a3" Type="http://schemas.openxmlformats.org/officeDocument/2006/relationships/slideLayout" Target="../slideLayouts/slideLayout1.xml"/><Relationship Id="Ref029cb35e94431f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26fefd5c31f04031" Type="http://schemas.openxmlformats.org/officeDocument/2006/relationships/image" Target="../media/image2.jpeg"/><Relationship Id="R43c28a43f96b44e6" Type="http://schemas.openxmlformats.org/officeDocument/2006/relationships/image" Target="../media/image7.png"/><Relationship Id="R5cbf98faf9104c1b" Type="http://schemas.openxmlformats.org/officeDocument/2006/relationships/slideLayout" Target="../slideLayouts/slideLayout1.xml"/><Relationship Id="R5ceb19b3d6d64f78" Type="http://schemas.openxmlformats.org/officeDocument/2006/relationships/notesSlide" Target="../notesSlides/notesSlide4.xml"/><Relationship Id="R9ebbf0dbb59e44ad" Type="http://schemas.openxmlformats.org/officeDocument/2006/relationships/image" Target="../media/image.png"/><Relationship Id="Rbddb613457664f17" Type="http://schemas.openxmlformats.org/officeDocument/2006/relationships/image" Target="../media/image9.png"/><Relationship Id="Rc4745ef35c504e16" Type="http://schemas.openxmlformats.org/officeDocument/2006/relationships/image" Target="../media/image.jpeg"/><Relationship Id="Ree8f70cfb9614c6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0e91957514eb4fb0" Type="http://schemas.openxmlformats.org/officeDocument/2006/relationships/slideLayout" Target="../slideLayouts/slideLayout1.xml"/><Relationship Id="R197a71eb513046e9" Type="http://schemas.openxmlformats.org/officeDocument/2006/relationships/image" Target="../media/image9.png"/><Relationship Id="R2cb7ad95afba414f" Type="http://schemas.openxmlformats.org/officeDocument/2006/relationships/image" Target="../media/image7.png"/><Relationship Id="R7c266003fcc84235" Type="http://schemas.openxmlformats.org/officeDocument/2006/relationships/notesSlide" Target="../notesSlides/notesSlide5.xml"/><Relationship Id="R8bfb0d6aeae04999" Type="http://schemas.openxmlformats.org/officeDocument/2006/relationships/image" Target="../media/image10.png"/><Relationship Id="R9c14111ba3ba4f35" Type="http://schemas.openxmlformats.org/officeDocument/2006/relationships/image" Target="../media/image.png"/><Relationship Id="Rb0f14da1464c4b42" Type="http://schemas.openxmlformats.org/officeDocument/2006/relationships/image" Target="../media/image2.jpeg"/><Relationship Id="Rb6bc855f69e64cf4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2.jpeg"/><Relationship Id="rId4" Type="http://schemas.openxmlformats.org/officeDocument/2006/relationships/image" Target="../media/image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18383451bfc0414c" Type="http://schemas.openxmlformats.org/officeDocument/2006/relationships/image" Target="../media/image.jpeg"/><Relationship Id="R2b3c9b7162ba43f8" Type="http://schemas.openxmlformats.org/officeDocument/2006/relationships/slideLayout" Target="../slideLayouts/slideLayout1.xml"/><Relationship Id="R2bb3610c559a4984" Type="http://schemas.openxmlformats.org/officeDocument/2006/relationships/image" Target="../media/image12.png"/><Relationship Id="R5534aaa87cac4fc0" Type="http://schemas.openxmlformats.org/officeDocument/2006/relationships/image" Target="../media/image14.png"/><Relationship Id="R807fe3c575e34d98" Type="http://schemas.openxmlformats.org/officeDocument/2006/relationships/image" Target="../media/image13.png"/><Relationship Id="R9eaee066d20245c2" Type="http://schemas.openxmlformats.org/officeDocument/2006/relationships/notesSlide" Target="../notesSlides/notesSlide6.xml"/><Relationship Id="Rb93255294095460e" Type="http://schemas.openxmlformats.org/officeDocument/2006/relationships/image" Target="../media/image15.png"/><Relationship Id="Rbdb714b82a3d4cc5" Type="http://schemas.openxmlformats.org/officeDocument/2006/relationships/image" Target="../media/image2.jpeg"/><Relationship Id="Rc250c424e69846ec" Type="http://schemas.openxmlformats.org/officeDocument/2006/relationships/image" Target="../media/image.png"/><Relationship Id="Re08381ac0b9243df" Type="http://schemas.openxmlformats.org/officeDocument/2006/relationships/image" Target="../media/image9.png"/><Relationship Id="Re6aeb8479a9847a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2.jpeg"/><Relationship Id="rId4" Type="http://schemas.openxmlformats.org/officeDocument/2006/relationships/image" Target="../media/image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02a4233f212a4117" Type="http://schemas.openxmlformats.org/officeDocument/2006/relationships/image" Target="../media/image7.png"/><Relationship Id="R1bff38b57a55401f" Type="http://schemas.openxmlformats.org/officeDocument/2006/relationships/image" Target="../media/image.jpeg"/><Relationship Id="R41def692a7c347ee" Type="http://schemas.openxmlformats.org/officeDocument/2006/relationships/image" Target="../media/image.png"/><Relationship Id="R43f2fcf545a74ddd" Type="http://schemas.openxmlformats.org/officeDocument/2006/relationships/image" Target="../media/image2.jpeg"/><Relationship Id="R5e1489bab4ce4354" Type="http://schemas.openxmlformats.org/officeDocument/2006/relationships/image" Target="../media/image9.png"/><Relationship Id="R76d07787f4e946d7" Type="http://schemas.openxmlformats.org/officeDocument/2006/relationships/slideLayout" Target="../slideLayouts/slideLayout1.xml"/><Relationship Id="R808b02de48434bc3" Type="http://schemas.openxmlformats.org/officeDocument/2006/relationships/image" Target="../media/image16.png"/><Relationship Id="R80cfbd1d22fd45ca" Type="http://schemas.openxmlformats.org/officeDocument/2006/relationships/notesSlide" Target="../notesSlides/notesSlide7.xml"/><Relationship Id="Reed5ab06475047d1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6D071B-BEC4-40EC-A318-508C08D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7baae5de468e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096E7DCD-E9BC-42F2-80E4-A66EE383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47549" cy="276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49EE67C6-BE51-40D7-8A62-CF8AFEBE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1170432"/>
            <a:ext cx="2438705" cy="362102"/>
          </a:xfrm>
          <a:prstGeom xmlns:a="http://schemas.openxmlformats.org/drawingml/2006/main" prst="roundRect">
            <a:avLst>
              <a:gd name="adj" fmla="val 2658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7A740AF-5359-4FF4-9E54-F5DB670F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2671"/>
            <a:ext cx="11048695" cy="2171700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273383">
              <a:alpha val="3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  <a:effectLst xmlns:a="http://schemas.openxmlformats.org/drawingml/2006/main"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731BCD60-7646-4751-91FB-B3985BFC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1721815"/>
            <a:ext cx="11045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CAC1D960-B55A-43D1-9EB7-08B4A0C7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1721815"/>
            <a:ext cx="221010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0219BEC6-0BE8-408D-A8D2-3530280F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1721815"/>
            <a:ext cx="44192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18142395-AC35-401C-B7FC-CD96052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1721815"/>
            <a:ext cx="3314700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CD6EB8F-C345-4AE3-89B7-21543C13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4211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F01EB7CB-7744-461C-A640-EE02C4A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2604211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82D467A-8388-472B-A2FE-0A09B3C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2604211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7053A008-B8E0-4DBF-9801-A7553E5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2604211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B3E9D6D4-9248-4F0B-B142-AC8E052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6954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7C1919F8-0FE8-4ABF-B700-556C7951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055010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234672BA-86DE-479D-9F81-F90675B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055010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7E2D64D-B9A5-428A-B45A-7B09BFB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055010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AD101699-DC50-43E1-B16F-2E8A9A67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055010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585198A-F2BE-477F-A597-8DEDE03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0382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D2D21552-419F-432C-8559-0062C2B4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510382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4FB35C11-DBC5-47EA-BCD2-66F86968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510382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A5C3970-54F2-4EDD-9F73-95ED1BA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510382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5DE453FE-0238-4FCC-A6C3-249A17F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7697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825a1d7e548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151376"/>
            <a:ext cx="133502" cy="133502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B6552FC8-9B41-416F-BE66-BB5ED6D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8" y="4120286"/>
            <a:ext cx="557418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i="1">
                <a:solidFill>
                  <a:srgbClr val="AAAAAA"/>
                </a:solidFill>
                <a:latin typeface="Poppins"/>
                <a:ea typeface="Poppins"/>
                <a:cs typeface="Poppins"/>
              </a:rPr>
              <a:t>A team can have up to 4 members including the team leader. Add rows if necessary.</a:t>
            </a:r>
            <a:endParaRPr sz="1000" b="1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EA60CA9D-22B7-47F0-8FC7-795A0B0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654"/>
            <a:ext cx="11048695" cy="2029054"/>
          </a:xfrm>
          <a:prstGeom xmlns:a="http://schemas.openxmlformats.org/drawingml/2006/main" prst="roundRect">
            <a:avLst>
              <a:gd name="adj" fmla="val 253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1E3A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D75023F-963D-4949-8F15-A11E530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048402"/>
            <a:ext cx="10649102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DAAC860-0717-47BC-B798-1C07981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96138FA0-DFC7-4A39-9A92-EDCA2B4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402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9EE62F7F-CAE9-4ED4-8DC3-4953EB1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" y="1086307"/>
            <a:ext cx="2053742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Team Details</a:t>
            </a:r>
            <a:endParaRPr sz="21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30D5564C-7CB5-4609-9922-85C6512A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1237183"/>
            <a:ext cx="110551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Name:</a:t>
            </a:r>
            <a:endParaRPr sz="12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2BAC941-1259-47F2-BF7D-2D30AF6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1836115"/>
            <a:ext cx="59893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SR. NO</a:t>
            </a:r>
            <a:endParaRPr sz="1000"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4983D2EE-317E-4218-8107-D899475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36115"/>
            <a:ext cx="465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ROLE</a:t>
            </a:r>
            <a:endParaRPr sz="1000"/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808D06CB-8CF1-46A5-BE73-04C410B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1836115"/>
            <a:ext cx="532181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NAME</a:t>
            </a:r>
            <a:endParaRPr sz="10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266FF3FC-A3D4-4897-842C-958BCDA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1836115"/>
            <a:ext cx="131307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ACADEMIC YEAR</a:t>
            </a:r>
            <a:endParaRPr sz="10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541C814E-4C71-4E37-8CF7-81F68D9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270455"/>
            <a:ext cx="1563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1</a:t>
            </a:r>
            <a:endParaRPr sz="11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D5EC0187-2898-49B2-8024-16561A8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70455"/>
            <a:ext cx="10707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Team Leader</a:t>
            </a:r>
            <a:endParaRPr sz="1100"/>
          </a:p>
        </p:txBody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5F3E4334-0ABD-4E14-8BB7-88DEE9F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725826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2</a:t>
            </a:r>
            <a:endParaRPr sz="110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183DBC30-2B60-4723-90C2-CA2C5C2F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725826"/>
            <a:ext cx="80467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1</a:t>
            </a:r>
            <a:endParaRPr sz="110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9FF83D5E-AAA3-4E41-AD44-AA64AA4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181198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3</a:t>
            </a:r>
            <a:endParaRPr sz="1100"/>
          </a:p>
        </p:txBody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0F21E30D-F84B-4612-86B3-DB2F316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181198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2</a:t>
            </a:r>
            <a:endParaRPr sz="1100"/>
          </a:p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939591E0-F41E-4F84-A5AD-159C0439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636569"/>
            <a:ext cx="203911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4</a:t>
            </a:r>
            <a:endParaRPr sz="1100"/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2B0A06EA-570D-493B-8BE6-44BAE96F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36569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3</a:t>
            </a:r>
            <a:endParaRPr sz="1100"/>
          </a:p>
        </p:txBody>
      </p:sp>
      <p:pic>
        <p:nvPicPr>
          <p:cNvPr id="12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5c0e0c5214065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4772254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1CC97CBB-78FF-4C24-BFA5-A67EAC0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4743907"/>
            <a:ext cx="134325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COLLEGE NAME</a:t>
            </a:r>
            <a:endParaRPr sz="1200"/>
          </a:p>
        </p:txBody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8c15a862048bb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6ED03CED-143B-4E50-91D2-45B1B31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5629046"/>
            <a:ext cx="277246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CONTACT NUMBER</a:t>
            </a:r>
            <a:endParaRPr sz="1200"/>
          </a:p>
        </p:txBody>
      </p:sp>
      <p:pic>
        <p:nvPicPr>
          <p:cNvPr id="12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66c8e13d04035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6191402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D05B5988-BC66-46F2-B422-6637A22B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46" y="5629046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EMAIL ADDRESS</a:t>
            </a:r>
            <a:endParaRPr sz="1200"/>
          </a:p>
        </p:txBody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61C7FDAF-9AC6-45FF-8362-D38B5ED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4" y="1256386"/>
            <a:ext cx="171998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EdgeRestore-LK Stark Industries</a:t>
            </a:r>
            <a:endParaRPr sz="1000"/>
          </a:p>
        </p:txBody>
      </p:sp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C68C0527-7F87-4684-92BF-C594006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270455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Vikaash R</a:t>
            </a:r>
            <a:endParaRPr sz="1100"/>
          </a:p>
        </p:txBody>
      </p:sp>
      <p:sp>
        <p:nvSpPr>
          <p:cNvPr id="56" name="Text 47">
            <a:extLst xmlns:a="http://schemas.openxmlformats.org/drawingml/2006/main">
              <a:ext uri="{FF2B5EF4-FFF2-40B4-BE49-F238E27FC236}">
                <a16:creationId xmlns:a16="http://schemas.microsoft.com/office/drawing/2014/main" id="{AF322A9B-150C-40F6-BD14-C0EA7EB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270455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3rd Year</a:t>
            </a:r>
            <a:endParaRPr sz="1100"/>
          </a:p>
        </p:txBody>
      </p:sp>
      <p:sp>
        <p:nvSpPr>
          <p:cNvPr id="57" name="Text 48">
            <a:extLst xmlns:a="http://schemas.openxmlformats.org/drawingml/2006/main">
              <a:ext uri="{FF2B5EF4-FFF2-40B4-BE49-F238E27FC236}">
                <a16:creationId xmlns:a16="http://schemas.microsoft.com/office/drawing/2014/main" id="{EA658E6B-D684-4E1F-B817-BA4EAC37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725826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Mervin</a:t>
            </a:r>
            <a:endParaRPr sz="1100"/>
          </a:p>
        </p:txBody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BDA432A4-2332-40A1-B32E-FE70232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725826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2nd Year</a:t>
            </a:r>
            <a:endParaRPr sz="1100"/>
          </a:p>
        </p:txBody>
      </p:sp>
      <p:sp>
        <p:nvSpPr>
          <p:cNvPr id="59" name="Text 50">
            <a:extLst xmlns:a="http://schemas.openxmlformats.org/drawingml/2006/main">
              <a:ext uri="{FF2B5EF4-FFF2-40B4-BE49-F238E27FC236}">
                <a16:creationId xmlns:a16="http://schemas.microsoft.com/office/drawing/2014/main" id="{621DDD09-C72E-41A0-9884-2190BAFB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181198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Nithilan T</a:t>
            </a:r>
            <a:endParaRPr sz="1100"/>
          </a:p>
        </p:txBody>
      </p:sp>
      <p:sp>
        <p:nvSpPr>
          <p:cNvPr id="60" name="Text 51">
            <a:extLst xmlns:a="http://schemas.openxmlformats.org/drawingml/2006/main">
              <a:ext uri="{FF2B5EF4-FFF2-40B4-BE49-F238E27FC236}">
                <a16:creationId xmlns:a16="http://schemas.microsoft.com/office/drawing/2014/main" id="{1812DC29-1386-4C7C-A92F-5F240C0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181198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3rd Year</a:t>
            </a:r>
            <a:endParaRPr sz="1100"/>
          </a:p>
        </p:txBody>
      </p:sp>
      <p:sp>
        <p:nvSpPr>
          <p:cNvPr id="61" name="Text 52">
            <a:extLst xmlns:a="http://schemas.openxmlformats.org/drawingml/2006/main">
              <a:ext uri="{FF2B5EF4-FFF2-40B4-BE49-F238E27FC236}">
                <a16:creationId xmlns:a16="http://schemas.microsoft.com/office/drawing/2014/main" id="{D879AE37-02C6-4105-BA6A-BB674DD4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636569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[ADD / REMOVE]</a:t>
            </a:r>
            <a:endParaRPr sz="1100"/>
          </a:p>
        </p:txBody>
      </p:sp>
      <p:sp>
        <p:nvSpPr>
          <p:cNvPr id="62" name="Text 53">
            <a:extLst xmlns:a="http://schemas.openxmlformats.org/drawingml/2006/main">
              <a:ext uri="{FF2B5EF4-FFF2-40B4-BE49-F238E27FC236}">
                <a16:creationId xmlns:a16="http://schemas.microsoft.com/office/drawing/2014/main" id="{14D050C7-F378-48A7-94A3-80E804B9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636569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[ADD YEAR]</a:t>
            </a:r>
            <a:endParaRPr sz="1100"/>
          </a:p>
        </p:txBody>
      </p:sp>
      <p:sp>
        <p:nvSpPr>
          <p:cNvPr id="63" name="Text 54">
            <a:extLst xmlns:a="http://schemas.openxmlformats.org/drawingml/2006/main">
              <a:ext uri="{FF2B5EF4-FFF2-40B4-BE49-F238E27FC236}">
                <a16:creationId xmlns:a16="http://schemas.microsoft.com/office/drawing/2014/main" id="{D251A6F0-B582-47D6-9D68-221E11B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52644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Chennai Institute of Technology</a:t>
            </a:r>
            <a:endParaRPr sz="1200"/>
          </a:p>
        </p:txBody>
      </p:sp>
      <p:sp>
        <p:nvSpPr>
          <p:cNvPr id="64" name="Text 55">
            <a:extLst xmlns:a="http://schemas.openxmlformats.org/drawingml/2006/main">
              <a:ext uri="{FF2B5EF4-FFF2-40B4-BE49-F238E27FC236}">
                <a16:creationId xmlns:a16="http://schemas.microsoft.com/office/drawing/2014/main" id="{69BA62BC-145A-4919-BFA7-84DB0894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6038698"/>
            <a:ext cx="1534363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9600039825</a:t>
            </a:r>
            <a:endParaRPr sz="1200"/>
          </a:p>
        </p:txBody>
      </p:sp>
      <p:sp>
        <p:nvSpPr>
          <p:cNvPr id="65" name="Text 56">
            <a:extLst xmlns:a="http://schemas.openxmlformats.org/drawingml/2006/main">
              <a:ext uri="{FF2B5EF4-FFF2-40B4-BE49-F238E27FC236}">
                <a16:creationId xmlns:a16="http://schemas.microsoft.com/office/drawing/2014/main" id="{F605381E-ED99-4860-A256-56764A2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107" y="6038698"/>
            <a:ext cx="188640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r.vikaash301@gmail.com</a:t>
            </a:r>
            <a:endParaRPr sz="1200"/>
          </a:p>
        </p:txBody>
      </p:sp>
      <p:sp>
        <p:nvSpPr>
          <p:cNvPr id="70" name="Shape 1">
            <a:extLst xmlns:a="http://schemas.openxmlformats.org/drawingml/2006/main"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" y="13807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faf942294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4957" y="27370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96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9E467F-C87D-456B-9940-305C4924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18757ae004f62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9739CEE-4A6A-4FBC-927E-2FBFD32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B03BA842-FA59-44AE-B429-CC4ACC2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5547665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Problem Statement Addressed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C0007D54-298A-4593-AF32-1EBF35E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6FD15545-FB8D-4F09-8B06-F5C8CF92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3F51FDC9-587D-4C38-BA85-D6D72B4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471A7452-5DCF-4CA2-A6FE-B699A37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4B037D8C-2B9B-4DD2-8B20-804F0B08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039DAC75-D7BE-4C27-87DC-A7C3187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03b77d56645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5831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209466C3-339E-44CB-9113-DCE84C4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627735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PS01 | Joint denoising + 2x grayscale super-resolution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F84CDDF0-5F53-4578-A720-AE1C6020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76824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D09EE3A-1C1C-438C-BEFF-9BDC6705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006901"/>
            <a:ext cx="16907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WHY THIS MATTERS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E3934147-8D93-443B-AF07-80557EB8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283050"/>
            <a:ext cx="8968435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Restore 128x128 noisy inputs to faithful 256x256 outputs. Preserve real edges and rare structures while suppressing speckle and Gaussian noise; hidden sources test generalization and speed.</a:t>
            </a:r>
            <a:endParaRPr sz="1300"/>
          </a:p>
        </p:txBody>
      </p:sp>
      <p:pic>
        <p:nvPicPr>
          <p:cNvPr id="4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7218d3c294f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29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6ea3112764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449" y="416814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284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6E6FFA-F15C-4137-9B4C-C5C26BC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1ae349e3c4edd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5CD02B2-FA44-4400-85D9-62C0C051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5283b14ae485f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ec9f8017c4c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F3EC61EF-796F-4022-84B4-167DDA26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9672DE82-FE61-473C-830C-C3C4F91C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" y="1295705"/>
            <a:ext cx="10682936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Idea Description - EdgeRestore-LK</a:t>
            </a:r>
            <a:endParaRPr sz="2600">
              <a:latin typeface="Poppins"/>
              <a:ea typeface="Poppins"/>
              <a:cs typeface="Poppins"/>
            </a:endParaRPr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5EA6CF28-6534-4F57-99B7-6298CE66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FA7D4BB5-6884-4D1B-AB55-08DC0B0D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3A7C169A-2D07-4417-896E-F2548C2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2E168FA1-B207-4BDE-AEB7-18325DF1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B3A1D3A1-572E-417A-A0CE-B86D26B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58354E5-F2F8-4AD2-8A5F-B8E391F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29cb35e94431f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90FAE69A-4374-498A-AAFD-28422DB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83941"/>
            <a:ext cx="9813341" cy="629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One deterministic model handles compound noise and 2x upscaling while prioritizing faithful structure over visually plausible hallucination.</a:t>
            </a:r>
            <a:endParaRPr sz="16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5F1382E0-AB19-4BBB-A465-D726C76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060850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91D6C38-32BF-4179-9990-F49C1D92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261104"/>
            <a:ext cx="1996135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KEY CONCEPT &amp; APPROACH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983380B-7EFB-43E4-92AA-1DA23AB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528109"/>
            <a:ext cx="767730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6 residual groups x 6 residual channel-attention blocks (96 channels), zero-initialised head so the untrained network is exact bicubic.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69BBBD5C-0102-452A-81C8-529A6D91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108753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B446780-4E1B-49AD-B1EE-40C244F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309006"/>
            <a:ext cx="154807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SOLUTION OVERVIEW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3C6F15B-8AD8-4EE6-AE18-D224272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575097"/>
            <a:ext cx="8458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PixelShuffle restores 2x detail; a bicubic skip anchors fidelity. Challenge-range outliers are retained.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c152659f3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602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19005d2fc47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1375" y="32938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189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AFF591-9D1D-4AD3-9D21-CDD01BA6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45ef35c504e16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3E4AC97-B4B3-4191-BEAA-98ACA36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efd5c31f04031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bf0dbb59e44a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3FE08763-6B9E-405E-859F-2D2962C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5766375F-F378-42AA-9871-0830662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10296144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Proposed Solution - Model and Training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F347CF0-A263-4FFC-BC67-671739B8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E1F0470B-AD42-48DB-B0A6-59CE0D6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69C9FF2D-DBF2-46D3-A5C0-16CE0044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52E0828A-1059-49DD-A84E-E4BF73C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C48E09D8-C8C7-4B38-A784-DF30763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1692DA2-B39F-45AD-AAD8-DAA897AC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f70cfb9614c67"/>
          <a:stretch xmlns:a="http://schemas.openxmlformats.org/drawingml/2006/main"/>
        </p:blipFill>
        <p:spPr>
          <a:xfrm xmlns:a="http://schemas.openxmlformats.org/drawingml/2006/main">
            <a:off x="2189167" y="4143375"/>
            <a:ext cx="7928919" cy="20955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B5F831FD-DB67-4531-AF12-F99315BE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1017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LR -&gt; 6x[6 RCAB] channel-attention groups (96ch) -&gt; PixelShuffle -&gt; + bicubic. Charbonnier + FFT-L1 training selects EMA iter 22000 by held-out validation PSNR.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EC71F992-2151-4AAD-9F76-141054D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3400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F53431F-5541-4D3A-A421-3E5BEBF2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26" y="3857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VISUAL PROOF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59F7839-EB26-4B4D-88B4-389CB5D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Sample 000960 | PSNR 40.83 dB | SSIM 0.9744 | held-out filename-random split</a:t>
            </a:r>
            <a:endParaRPr sz="1300"/>
          </a:p>
        </p:txBody>
      </p:sp>
      <p:pic>
        <p:nvPicPr>
          <p:cNvPr id="4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b61345766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799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28a43f96b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553" y="27666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80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4C30032-A2A8-4FFB-9DCA-889F026D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c855f69e64cf4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CE2120-A92B-4AEA-9415-57BBCCE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14da1464c4b42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4111ba3ba4f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DF2ADA34-12A2-4D08-B75E-A99FB0F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C81475E3-83B3-49E1-A2CF-CCDE2C3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4986223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Innovation and Empirical Advantage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FDD729CA-8169-4404-81E5-BA1EBF1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2CFD9CBF-7D94-43C3-BEDE-A7A5545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A8D95AD-8D0C-4CEC-88ED-B111CBA9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91B7AF90-6C93-4940-9C53-787E5ED2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D499AF7-0FAB-4733-A995-4C9E01B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AF48AE24-F757-48A8-924E-0105A50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b0d6aeae04999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9015E06C-2867-4933-8604-384085A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9801454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A kernel-only controlled ablation improved PSNR, SSIM, and LPIPS; no GAN, diffusion, ensemble, or degradation router was added.</a:t>
            </a:r>
            <a:endParaRPr sz="18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A5515EF3-1027-4657-B6B7-C43C9F3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5052"/>
            <a:ext cx="10268712" cy="1429207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73B7CA59-9D34-409C-B85B-2D1D0562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4082796"/>
            <a:ext cx="548640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FINAL MODEL (EdgeRestore v2, submitted)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6C0CA1F-57B1-474B-9B82-BC22D5E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4343400"/>
            <a:ext cx="9784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29.10 dB PSNR | 0.7784 SSIM | 0.2760 LPIPS | 0.9396 MS-SSIM  (+6.111 dB over bicubic)
6,939,289 parameters | 27.9 MB | 29.35 ms model | 38.42 ms end-to-end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a71eb5130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322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5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7ad95afba41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0929" y="393700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11092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>
            <a:extLst>
              <a:ext uri="{FF2B5EF4-FFF2-40B4-BE49-F238E27FC236}">
                <a16:creationId xmlns:a16="http://schemas.microsoft.com/office/drawing/2014/main" id="{54C30032-A2A8-4FFB-9DCA-889F026D6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>
            <a:alphaModFix amt="10000"/>
          </a:blip>
          <a:srcRect l="12327" t="0" r="12327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CCE2120-A92B-4AEA-9415-57BBCCEA4B40}"/>
              </a:ext>
            </a:extLst>
          </p:cNvPr>
          <p:cNvSpPr>
            <a:spLocks noGrp="1"/>
          </p:cNvSpPr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1"/>
          <p:cNvPicPr>
            <a:picLocks noChangeAspect="1"/>
          </p:cNvPicPr>
          <p:nvPr/>
        </p:nvPicPr>
        <p:blipFill>
          <a:blip r:embed="rId3"/>
          <a:srcRect l="0" t="10" r="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36" name="Image 2"/>
          <p:cNvPicPr>
            <a:picLocks noChangeAspect="1"/>
          </p:cNvPicPr>
          <p:nvPr/>
        </p:nvPicPr>
        <p:blipFill>
          <a:blip r:embed="rId4"/>
          <a:srcRect l="0" t="0" r="0" b="0"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F2ADA34-12A2-4D08-B75E-A99FB0FBB57D}"/>
              </a:ext>
            </a:extLst>
          </p:cNvPr>
          <p:cNvSpPr>
            <a:spLocks noGrp="1"/>
          </p:cNvSpPr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</p:spPr>
        <p:txBody>
          <a:bodyPr/>
          <a:lstStyle/>
          <a:p>
            <a:endParaRPr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81475E3-83B3-49E1-A2CF-CCDE2C3488D6}"/>
              </a:ext>
            </a:extLst>
          </p:cNvPr>
          <p:cNvSpPr>
            <a:spLocks noGrp="1"/>
          </p:cNvSpPr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Results</a:t>
            </a:r>
            <a:endParaRPr sz="260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DD729CA-8169-4404-81E5-BA1EBF19948A}"/>
              </a:ext>
            </a:extLst>
          </p:cNvPr>
          <p:cNvSpPr>
            <a:spLocks noGrp="1"/>
          </p:cNvSpPr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CFD9CBF-7D94-43C3-BEDE-A7A5545C7021}"/>
              </a:ext>
            </a:extLst>
          </p:cNvPr>
          <p:cNvSpPr>
            <a:spLocks noGrp="1"/>
          </p:cNvSpPr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A8D95AD-8D0C-4CEC-88ED-B111CBA93F03}"/>
              </a:ext>
            </a:extLst>
          </p:cNvPr>
          <p:cNvSpPr>
            <a:spLocks noGrp="1"/>
          </p:cNvSpPr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1B7AF90-6C93-4940-9C53-787E5ED272A1}"/>
              </a:ext>
            </a:extLst>
          </p:cNvPr>
          <p:cNvSpPr>
            <a:spLocks noGrp="1"/>
          </p:cNvSpPr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D499AF7-0FAB-4733-A995-4C9E01B107A2}"/>
              </a:ext>
            </a:extLst>
          </p:cNvPr>
          <p:cNvSpPr>
            <a:spLocks noGrp="1"/>
          </p:cNvSpPr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F48AE24-F757-48A8-924E-0105A50CE5A1}"/>
              </a:ext>
            </a:extLst>
          </p:cNvPr>
          <p:cNvSpPr>
            <a:spLocks noGrp="1"/>
          </p:cNvSpPr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3"/>
          <p:cNvPicPr>
            <a:picLocks noChangeAspect="1"/>
          </p:cNvPicPr>
          <p:nvPr/>
        </p:nvPicPr>
        <p:blipFill>
          <a:blip r:embed="rId5"/>
          <a:srcRect l="-133" t="0" r="-133" b="0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9015E06C-2867-4933-8604-384085A49F81}"/>
              </a:ext>
            </a:extLst>
          </p:cNvPr>
          <p:cNvSpPr>
            <a:spLocks noGrp="1"/>
          </p:cNvSpPr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Quantitative metrics and visual evidence on the 320-image held-out split, identical protocol for every row.</a:t>
            </a:r>
            <a:endParaRPr sz="180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8C40B548-7810-4370-A45F-C15D0A47646E}"/>
              </a:ext>
            </a:extLst>
          </p:cNvPr>
          <p:cNvSpPr>
            <a:spLocks noGrp="1"/>
          </p:cNvSpPr>
          <p:nvPr/>
        </p:nvSpPr>
        <p:spPr>
          <a:xfrm>
            <a:off x="960120" y="3657600"/>
            <a:ext cx="5029200" cy="283464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6677ED8-8EB3-49F3-874E-C511B9E5C7D9}"/>
              </a:ext>
            </a:extLst>
          </p:cNvPr>
          <p:cNvSpPr>
            <a:spLocks noGrp="1"/>
          </p:cNvSpPr>
          <p:nvPr/>
        </p:nvSpPr>
        <p:spPr>
          <a:xfrm>
            <a:off x="1197864" y="3840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QUANTITATIVE METRICS (320-image held-out)</a:t>
            </a:r>
            <a:endParaRPr sz="100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880E284-9A49-43B3-B38C-13B8FB2562CE}"/>
              </a:ext>
            </a:extLst>
          </p:cNvPr>
          <p:cNvSpPr>
            <a:spLocks noGrp="1"/>
          </p:cNvSpPr>
          <p:nvPr/>
        </p:nvSpPr>
        <p:spPr>
          <a:xfrm>
            <a:off x="1197864" y="416052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PSNR: 29.0989 dB  (bicubic: 22.9877 dB)
SSIM: 0.7784  (bicubic: 0.5193)
LPIPS: 0.2760  (bicubic: 0.4435, lower is better)
MS-SSIM: 0.9396  (bicubic: 0.7943)
+6.111 dB PSNR over bicubic baseline
0/320 images lose to bicubic on PSNR or MS-SSIM</a:t>
            </a:r>
            <a:endParaRPr sz="120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A5515EF3-1027-4657-B6B7-C43C9F385264}"/>
              </a:ext>
            </a:extLst>
          </p:cNvPr>
          <p:cNvSpPr>
            <a:spLocks noGrp="1"/>
          </p:cNvSpPr>
          <p:nvPr/>
        </p:nvSpPr>
        <p:spPr>
          <a:xfrm>
            <a:off x="6263640" y="3657600"/>
            <a:ext cx="5029200" cy="283464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73B7CA59-9D34-409C-B85B-2D1D05628FFC}"/>
              </a:ext>
            </a:extLst>
          </p:cNvPr>
          <p:cNvSpPr>
            <a:spLocks noGrp="1"/>
          </p:cNvSpPr>
          <p:nvPr/>
        </p:nvSpPr>
        <p:spPr>
          <a:xfrm>
            <a:off x="6492240" y="37947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VISUAL EVIDENCE: 000960 | degraded -&gt; restored -&gt; ground truth</a:t>
            </a:r>
            <a:endParaRPr sz="10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6C0CA1F-57B1-474B-9B82-BC22D5EC674D}"/>
              </a:ext>
            </a:extLst>
          </p:cNvPr>
          <p:cNvSpPr>
            <a:spLocks noGrp="1"/>
          </p:cNvSpPr>
          <p:nvPr/>
        </p:nvSpPr>
        <p:spPr>
          <a:xfrm>
            <a:off x="6492240" y="61722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PSNR 40.83 dB | SSIM 0.9744</a:t>
            </a:r>
            <a:endParaRPr sz="1200"/>
          </a:p>
        </p:txBody>
      </p:sp>
      <p:pic>
        <p:nvPicPr>
          <p:cNvPr id="53" name="Picture 22"/>
          <p:cNvPicPr>
            <a:picLocks noChangeAspect="1"/>
          </p:cNvPicPr>
          <p:nvPr/>
        </p:nvPicPr>
        <p:blipFill>
          <a:blip r:embed="rId6"/>
          <a:stretch>
            <a:fillRect l="0" t="0" r="0" b="0"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>
            <a:spLocks noGrp="1"/>
          </p:cNvSpPr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5" name="Picture 25"/>
          <p:cNvPicPr>
            <a:picLocks noChangeAspect="1"/>
          </p:cNvPicPr>
          <p:nvPr/>
        </p:nvPicPr>
        <p:blipFill>
          <a:blip r:embed="rId7"/>
          <a:stretch>
            <a:fillRect l="0" t="0" r="0" b="0"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  <p:pic>
        <p:nvPicPr>
          <p:cNvPr id="56" name="Picture 55" descr="000960_comparis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080" y="4069080"/>
            <a:ext cx="3576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991599-7E67-4031-8AC3-38AE80A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83451bfc0414c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EEC4468-7227-4386-B8FA-1CAB907D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714b82a3d4cc5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0c424e69846e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D4ED9000-7FE7-4225-B672-DE83E23B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098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39F0F8EC-B774-479A-B055-E33E3AD5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00607"/>
            <a:ext cx="78245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Technology, Feasibility and Impact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54FA9C11-B66B-4BDD-87C9-ABBCF33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1048695" cy="4695444"/>
          </a:xfrm>
          <a:prstGeom xmlns:a="http://schemas.openxmlformats.org/drawingml/2006/main" prst="roundRect">
            <a:avLst>
              <a:gd name="adj" fmla="val 63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E451BB16-E212-4963-ABF6-6958CFE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D3E15FFC-56AC-4BE8-AC3D-1D0C82D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79092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6FC7620-5E12-4094-B5B7-A091AE6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728FF98-EBE9-4558-92CB-802A18E2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2F10BA2D-2185-4CA0-B719-E02E22E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269541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3610c559a49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44053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BE56C308-84AB-4FEF-891F-33EBC72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2287829"/>
            <a:ext cx="934425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A trained, deterministic PyTorch pipeline restores every released test array with a standalone command and frozen checkpoint.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1E3507DD-35D3-4419-B954-8B109123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3238805"/>
            <a:ext cx="94676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63A75D2A-020D-4F67-8636-95740A49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477463"/>
            <a:ext cx="20336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IMPLEMENTATION AND TRUST BOUNDARY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110CC104-A16C-4329-98AA-A2198E86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753612"/>
            <a:ext cx="8748979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All 400 official test outputs verified finite and within [0,1] directly via the required inference.py entry point, 0 violations. Tests cover data, model, metrics, training and inference (257 tests). H100 and true OOD remain unverified.</a:t>
            </a:r>
            <a:endParaRPr sz="13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B66B95C7-5D82-47D9-9318-B62C146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fe3c575e34d98"/>
          <a:srcRect xmlns:a="http://schemas.openxmlformats.org/drawingml/2006/main" l="0" t="-45" r="0" b="-45"/>
          <a:stretch xmlns:a="http://schemas.openxmlformats.org/drawingml/2006/main"/>
        </p:blipFill>
        <p:spPr>
          <a:xfrm xmlns:a="http://schemas.openxmlformats.org/drawingml/2006/main">
            <a:off x="2481682" y="5451653"/>
            <a:ext cx="256946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1885FD9C-B090-4D9B-8EE5-A8C26C0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8" y="5823814"/>
            <a:ext cx="1608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PyTorch 2.11 | FP32</a:t>
            </a:r>
            <a:endParaRPr sz="10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8AB8E9D4-4EE1-4D90-9118-E61F7A7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56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4aaa87cac4fc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2005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49519C89-71EB-4E91-835D-B5D957C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1" y="5823814"/>
            <a:ext cx="17227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RTX 5070 Ti | 22,000 iters</a:t>
            </a:r>
            <a:endParaRPr sz="100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B696D94F-72E2-4B71-82E9-A37506C8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2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25529409546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67698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F4E17CAF-F6D8-42FF-85C9-E538EC3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058" y="5823814"/>
            <a:ext cx="143652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+6.111 dB | 29.35 ms</a:t>
            </a:r>
            <a:endParaRPr sz="1000"/>
          </a:p>
        </p:txBody>
      </p:sp>
      <p:pic>
        <p:nvPicPr>
          <p:cNvPr id="68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381ac0b92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4743" y="22860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1" name="Shape 1">
            <a:extLst xmlns:a="http://schemas.openxmlformats.org/drawingml/2006/main"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93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eb8479a9847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7820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9861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>
            <a:extLst>
              <a:ext uri="{FF2B5EF4-FFF2-40B4-BE49-F238E27FC236}">
                <a16:creationId xmlns:a16="http://schemas.microsoft.com/office/drawing/2014/main" id="{C9037111-F71A-4C77-A879-EC3C27A668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</p:spPr>
        <p:txBody>
          <a:bodyPr/>
          <a:lstStyle/>
          <a:p>
            <a:endParaRPr/>
          </a:p>
        </p:txBody>
      </p:sp>
      <p:pic>
        <p:nvPicPr>
          <p:cNvPr id="41" name="Image 0"/>
          <p:cNvPicPr>
            <a:picLocks noChangeAspect="1"/>
          </p:cNvPicPr>
          <p:nvPr/>
        </p:nvPicPr>
        <p:blipFill>
          <a:blip r:embed="rId2">
            <a:alphaModFix amt="10000"/>
          </a:blip>
          <a:srcRect l="12327" t="0" r="12327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278EC71B-5FE1-4A7C-A640-5D651CF82027}"/>
              </a:ext>
            </a:extLst>
          </p:cNvPr>
          <p:cNvSpPr>
            <a:spLocks noGrp="1"/>
          </p:cNvSpPr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rcRect l="0" t="10" r="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44" name="Image 2"/>
          <p:cNvPicPr>
            <a:picLocks noChangeAspect="1"/>
          </p:cNvPicPr>
          <p:nvPr/>
        </p:nvPicPr>
        <p:blipFill>
          <a:blip r:embed="rId4"/>
          <a:srcRect l="0" t="0" r="0" b="0"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7EBA136F-A561-41DF-85B8-BFDE7D906FB8}"/>
              </a:ext>
            </a:extLst>
          </p:cNvPr>
          <p:cNvSpPr>
            <a:spLocks noGrp="1"/>
          </p:cNvSpPr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</p:spPr>
        <p:txBody>
          <a:bodyPr/>
          <a:lstStyle/>
          <a:p>
            <a:endParaRPr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85F60AA-A842-4CFB-A946-6744286FBCFB}"/>
              </a:ext>
            </a:extLst>
          </p:cNvPr>
          <p:cNvSpPr>
            <a:spLocks noGrp="1"/>
          </p:cNvSpPr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GitHub &amp; Video Link</a:t>
            </a:r>
            <a:endParaRPr sz="260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2CCE1F5-2E64-4213-B2CE-19F7C5B80504}"/>
              </a:ext>
            </a:extLst>
          </p:cNvPr>
          <p:cNvSpPr>
            <a:spLocks noGrp="1"/>
          </p:cNvSpPr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825CC24-1991-4317-89CA-9C93F0CD54DA}"/>
              </a:ext>
            </a:extLst>
          </p:cNvPr>
          <p:cNvSpPr>
            <a:spLocks noGrp="1"/>
          </p:cNvSpPr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8BE731D-AC61-41AE-B8FB-85ED6386DB32}"/>
              </a:ext>
            </a:extLst>
          </p:cNvPr>
          <p:cNvSpPr>
            <a:spLocks noGrp="1"/>
          </p:cNvSpPr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4E0D3B1-CF7A-4253-8535-98420E9B0299}"/>
              </a:ext>
            </a:extLst>
          </p:cNvPr>
          <p:cNvSpPr>
            <a:spLocks noGrp="1"/>
          </p:cNvSpPr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69008A7-0E40-45A2-9E4B-7333E4370058}"/>
              </a:ext>
            </a:extLst>
          </p:cNvPr>
          <p:cNvSpPr>
            <a:spLocks noGrp="1"/>
          </p:cNvSpPr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5375588-F903-4DB8-B067-2FA74878F769}"/>
              </a:ext>
            </a:extLst>
          </p:cNvPr>
          <p:cNvSpPr>
            <a:spLocks noGrp="1"/>
          </p:cNvSpPr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3"/>
          <p:cNvPicPr>
            <a:picLocks noChangeAspect="1"/>
          </p:cNvPicPr>
          <p:nvPr/>
        </p:nvPicPr>
        <p:blipFill>
          <a:blip r:embed="rId5"/>
          <a:srcRect l="0" t="0" r="0" b="0"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AE7389F1-75D7-49FE-BC3F-1962A1D15DE1}"/>
              </a:ext>
            </a:extLst>
          </p:cNvPr>
          <p:cNvSpPr>
            <a:spLocks noGrp="1"/>
          </p:cNvSpPr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Public Repository</a:t>
            </a:r>
            <a:endParaRPr sz="15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EF4022D-E493-4C00-8470-A4FCC3516AE1}"/>
              </a:ext>
            </a:extLst>
          </p:cNvPr>
          <p:cNvSpPr>
            <a:spLocks noGrp="1"/>
          </p:cNvSpPr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Clone and run inference following the README - no manual edits required</a:t>
            </a:r>
            <a:endParaRPr sz="100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379F5BC-BB2E-49A8-8A77-C43AD7E0D550}"/>
              </a:ext>
            </a:extLst>
          </p:cNvPr>
          <p:cNvSpPr>
            <a:spLocks noGrp="1"/>
          </p:cNvSpPr>
          <p:nvPr/>
        </p:nvSpPr>
        <p:spPr>
          <a:xfrm>
            <a:off x="1627632" y="2779776"/>
            <a:ext cx="9601200" cy="3108960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B5C7BFA-93F7-4CBE-B016-734BAF9860A5}"/>
              </a:ext>
            </a:extLst>
          </p:cNvPr>
          <p:cNvSpPr>
            <a:spLocks noGrp="1"/>
          </p:cNvSpPr>
          <p:nvPr/>
        </p:nvSpPr>
        <p:spPr>
          <a:xfrm>
            <a:off x="1792224" y="3017520"/>
            <a:ext cx="9235440" cy="2651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GitHub: github.com/Vikaash301/kla-semicon
Contains: README.md, standalone inference.py (accepts positional or --input-dir/--output-dir args), training script, checkpoints/edgerestore_v2.pt, restored_test_outputs/ (400 images), requirements.txt, and requirements-freeze.txt (literal pip freeze).
Video: not provided (optional per template)</a:t>
            </a:r>
            <a:endParaRPr sz="1200"/>
          </a:p>
        </p:txBody>
      </p:sp>
      <p:pic>
        <p:nvPicPr>
          <p:cNvPr id="68" name="Picture 29"/>
          <p:cNvPicPr>
            <a:picLocks noChangeAspect="1"/>
          </p:cNvPicPr>
          <p:nvPr/>
        </p:nvPicPr>
        <p:blipFill>
          <a:blip r:embed="rId7"/>
          <a:stretch>
            <a:fillRect l="0" t="0" r="0" b="0"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>
            <a:spLocks noGrp="1"/>
          </p:cNvSpPr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0" name="Picture 32"/>
          <p:cNvPicPr>
            <a:picLocks noChangeAspect="1"/>
          </p:cNvPicPr>
          <p:nvPr/>
        </p:nvPicPr>
        <p:blipFill>
          <a:blip r:embed="rId8"/>
          <a:stretch>
            <a:fillRect l="0" t="0" r="0" b="0"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037111-F71A-4C77-A879-EC3C27A6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f38b57a55401f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78EC71B-5FE1-4A7C-A640-5D651CF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2fcf545a74ddd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ef692a7c347e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7EBA136F-A561-41DF-85B8-BFDE7D90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549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C85F60AA-A842-4CFB-A946-6744286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152144"/>
            <a:ext cx="46241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Research, Code and References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82CCE1F5-2E64-4213-B2CE-19F7C5B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1048695" cy="4743907"/>
          </a:xfrm>
          <a:prstGeom xmlns:a="http://schemas.openxmlformats.org/drawingml/2006/main" prst="roundRect">
            <a:avLst>
              <a:gd name="adj" fmla="val 61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825CC24-1991-4317-89CA-9C93F0CD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28BE731D-AC61-41AE-B8FB-85ED6386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30629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44E0D3B1-CF7A-4253-8535-98420E9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69008A7-0E40-45A2-9E4B-7333E43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95375588-F903-4DB8-B067-2FA7487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173529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b02de48434b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307" y="22978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AE7389F1-75D7-49FE-BC3F-1962A1D1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173529"/>
            <a:ext cx="3810305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Research Basis + Reproducibility</a:t>
            </a:r>
            <a:endParaRPr sz="15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FEF4022D-E493-4C00-8470-A4FCC35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516429"/>
            <a:ext cx="5701284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Implemented evidence and submission links</a:t>
            </a:r>
            <a:endParaRPr sz="10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7379F5BC-BB2E-49A8-8A77-C43AD7E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783434"/>
            <a:ext cx="9601200" cy="1067105"/>
          </a:xfrm>
          <a:prstGeom xmlns:a="http://schemas.openxmlformats.org/drawingml/2006/main" prst="roundRect">
            <a:avLst>
              <a:gd name="adj" fmla="val 6121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3B5C7BFA-93F7-4CBE-B016-734BAF98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2945282"/>
            <a:ext cx="554400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2026 UCAN and ShiftLUT motivate wider spatial context; our 5x5 depthwise ablation is the measured adaptation.
GitHub: github.com/Vikaash301/kla-semicon   Video: [ADD OPTIONAL DEMO URL]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B1DCBEC9-7DB7-4767-A007-6A2DA03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55034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5ab06475047d1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1057046" y="4279392"/>
            <a:ext cx="286207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6BFB0B10-EC6D-4447-8EEE-561D39E0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155034"/>
            <a:ext cx="2343607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References &amp; Citations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86363100-0497-428A-81EA-F4FF828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497934"/>
            <a:ext cx="276788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Primary sources; full verified list in REFERENCES.md</a:t>
            </a:r>
            <a:endParaRPr sz="100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73305CAA-8728-4677-8131-61C3264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764938"/>
            <a:ext cx="9601200" cy="1410005"/>
          </a:xfrm>
          <a:prstGeom xmlns:a="http://schemas.openxmlformats.org/drawingml/2006/main" prst="roundRect">
            <a:avLst>
              <a:gd name="adj" fmla="val 3505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3DB6E72D-8F93-4D68-BCAE-C9578A3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232197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DDD962C3-A587-4204-AF8E-66B06E9C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4926787"/>
            <a:ext cx="321960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UCAN - Expansive Receptive Fields for Lightweight SR (CVPR 2026)</a:t>
            </a:r>
            <a:endParaRPr sz="12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D35B5B60-6271-4DAA-96D1-CC2DB3FF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661050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F98A61B-0AA1-4CB1-B67A-4A38EFA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355641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ShiftLUT - Spatial Shift Enhanced LUTs for Restoration (CVPR 2026)</a:t>
            </a:r>
            <a:endParaRPr sz="12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A7ADD0F-A618-47A5-BF65-348B65B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783580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I4C Hackathon 2026 challenge and released paired dataset (i4c.in)</a:t>
            </a:r>
            <a:endParaRPr sz="1200"/>
          </a:p>
        </p:txBody>
      </p:sp>
      <p:pic>
        <p:nvPicPr>
          <p:cNvPr id="68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489bab4ce4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2" name="Shape 1">
            <a:extLst xmlns:a="http://schemas.openxmlformats.org/drawingml/2006/main"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71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4233f212a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9001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145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2026-08-14T17:47:43.8670000Z</dcterms:created>
  <dcterms:modified xsi:type="dcterms:W3CDTF">2026-08-14T17:47:43.8670000Z</dcterms:modified>
</coreProperties>
</file>