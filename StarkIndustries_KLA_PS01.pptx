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bd5f81dfa784c79" Type="http://schemas.openxmlformats.org/officeDocument/2006/relationships/extended-properties" Target="docProps/app.xml"/><Relationship Id="R9ee483d2d4764441" Type="http://schemas.openxmlformats.org/package/2006/relationships/metadata/core-properties" Target="docProps/core.xml"/><Relationship Id="Rf2c010470dd844ae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7a84688c48c420a"/>
  </p:sldMasterIdLst>
  <p:notesMasterIdLst>
    <p:notesMasterId xmlns:r="http://schemas.openxmlformats.org/officeDocument/2006/relationships" r:id="Ra3d3a6c8f0bf4548"/>
  </p:notesMasterIdLst>
  <p:sldIdLst>
    <p:sldId xmlns:r="http://schemas.openxmlformats.org/officeDocument/2006/relationships" id="256" r:id="R8b8eae3a0181412f"/>
    <p:sldId xmlns:r="http://schemas.openxmlformats.org/officeDocument/2006/relationships" id="257" r:id="Rd4ba76d1052549c7"/>
    <p:sldId xmlns:r="http://schemas.openxmlformats.org/officeDocument/2006/relationships" id="258" r:id="Rf961dc1d73be42f0"/>
    <p:sldId xmlns:r="http://schemas.openxmlformats.org/officeDocument/2006/relationships" id="259" r:id="R04dc6155b6914c9c"/>
    <p:sldId xmlns:r="http://schemas.openxmlformats.org/officeDocument/2006/relationships" id="260" r:id="R6ffa307fb02b4b15"/>
    <p:sldId xmlns:ns0="http://schemas.openxmlformats.org/officeDocument/2006/relationships" id="263" ns0:id="rId14"/>
    <p:sldId xmlns:r="http://schemas.openxmlformats.org/officeDocument/2006/relationships" id="261" r:id="Rc531026be97a4339"/>
    <p:sldId xmlns:ns0="http://schemas.openxmlformats.org/officeDocument/2006/relationships" id="264" ns0:id="rId15"/>
    <p:sldId xmlns:r="http://schemas.openxmlformats.org/officeDocument/2006/relationships" id="262" r:id="Rdcb93b05329a4bf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4dc6155b6914c9c" Type="http://schemas.openxmlformats.org/officeDocument/2006/relationships/slide" Target="slides/slide4.xml"/><Relationship Id="R1f24b64b437140d5" Type="http://schemas.openxmlformats.org/officeDocument/2006/relationships/viewProps" Target="viewProps.xml"/><Relationship Id="R3cc538e7b3774387" Type="http://schemas.openxmlformats.org/officeDocument/2006/relationships/theme" Target="theme/theme1.xml"/><Relationship Id="R67a84688c48c420a" Type="http://schemas.openxmlformats.org/officeDocument/2006/relationships/slideMaster" Target="slideMasters/slideMaster1.xml"/><Relationship Id="R6ffa307fb02b4b15" Type="http://schemas.openxmlformats.org/officeDocument/2006/relationships/slide" Target="slides/slide5.xml"/><Relationship Id="R8b8eae3a0181412f" Type="http://schemas.openxmlformats.org/officeDocument/2006/relationships/slide" Target="slides/slide1.xml"/><Relationship Id="R9c5075ad8ad44253" Type="http://schemas.openxmlformats.org/officeDocument/2006/relationships/tableStyles" Target="tableStyles.xml"/><Relationship Id="Ra3d3a6c8f0bf4548" Type="http://schemas.openxmlformats.org/officeDocument/2006/relationships/notesMaster" Target="notesMasters/notesMaster1.xml"/><Relationship Id="Rc531026be97a4339" Type="http://schemas.openxmlformats.org/officeDocument/2006/relationships/slide" Target="slides/slide7.xml"/><Relationship Id="Rd4ba76d1052549c7" Type="http://schemas.openxmlformats.org/officeDocument/2006/relationships/slide" Target="slides/slide2.xml"/><Relationship Id="Rdcb93b05329a4bf2" Type="http://schemas.openxmlformats.org/officeDocument/2006/relationships/slide" Target="slides/slide8.xml"/><Relationship Id="Re976a50ca98e4b63" Type="http://schemas.openxmlformats.org/officeDocument/2006/relationships/presProps" Target="presProps.xml"/><Relationship Id="Rf961dc1d73be42f0" Type="http://schemas.openxmlformats.org/officeDocument/2006/relationships/slide" Target="slides/slide3.xml"/><Relationship Id="rId14" Type="http://schemas.openxmlformats.org/officeDocument/2006/relationships/slide" Target="slides/slide6.xml"/><Relationship Id="rId1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dba8cd55825f4d6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27700650e8df452d" Type="http://schemas.openxmlformats.org/officeDocument/2006/relationships/notesMaster" Target="../notesMasters/notesMaster1.xml"/><Relationship Id="R4575976364424947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88242c09b9d749a7" Type="http://schemas.openxmlformats.org/officeDocument/2006/relationships/notesMaster" Target="../notesMasters/notesMaster1.xml"/><Relationship Id="R8c1d5c001621447b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1bdbd92409c64f8f" Type="http://schemas.openxmlformats.org/officeDocument/2006/relationships/notesMaster" Target="../notesMasters/notesMaster1.xml"/><Relationship Id="R64744aacc3f1453a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5635560ee6af4f3b" Type="http://schemas.openxmlformats.org/officeDocument/2006/relationships/slide" Target="../slides/slide4.xml"/><Relationship Id="Rc7297456c0c24a7d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5ab4ff02b7134791" Type="http://schemas.openxmlformats.org/officeDocument/2006/relationships/slide" Target="../slides/slide5.xml"/><Relationship Id="R69f5c6e5af0f4d3f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1810afc8caf844ff" Type="http://schemas.openxmlformats.org/officeDocument/2006/relationships/notesMaster" Target="../notesMasters/notesMaster1.xml"/><Relationship Id="R5dadc83e141544f8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67ca368197be41e2" Type="http://schemas.openxmlformats.org/officeDocument/2006/relationships/notesMaster" Target="../notesMasters/notesMaster1.xml"/><Relationship Id="R9679698c024143b2" Type="http://schemas.openxmlformats.org/officeDocument/2006/relationships/slide" Target="../slides/slide8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https://i4c.in/hackathon-2026/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https://i4c.in/hackathon-2026/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https://openaccess.thecvf.com/content/CVPR2026/html/Tan_UCAN_Unified_Convolutional_Attention_Network_for_Expansive_Receptive_Fields_in_CVPR_2026_paper.html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Local checkpoint and training logs; see README.md and artifacts/metrics/model_metrics.json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Local paired ablation reports: artifacts/metrics/model_metrics.json and outputs/validation/metrics.json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Local benchmark: artifacts/metrics/benchmark_fp32.json</a:t>
            </a:r>
            <a:endParaRPr/>
          </a:p>
          <a:p xmlns:a="http://schemas.openxmlformats.org/drawingml/2006/main">
            <a:r>
              <a:t>- https://i4c.in/hackathon-2026/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https://openaccess.thecvf.com/content/CVPR2026/html/Tan_UCAN_Unified_Convolutional_Attention_Network_for_Expansive_Receptive_Fields_in_CVPR_2026_paper.html</a:t>
            </a:r>
            <a:endParaRPr/>
          </a:p>
          <a:p xmlns:a="http://schemas.openxmlformats.org/drawingml/2006/main">
            <a:r>
              <a:t>- https://openaccess.thecvf.com/content/CVPR2026/html/Zeng_ShiftLUT_Spatial_Shift_Enhanced_Look-Up_Tables_for_Efficient_Image_Restoration_CVPR_2026_paper.html</a:t>
            </a:r>
            <a:endParaRPr/>
          </a:p>
          <a:p xmlns:a="http://schemas.openxmlformats.org/drawingml/2006/main">
            <a:r>
              <a:t>- https://i4c.in/hackathon-2026/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0030e8cce0d24c2e" Type="http://schemas.openxmlformats.org/officeDocument/2006/relationships/image" Target="../media/image.jpeg"/><Relationship Id="R0689d50c21db45cb" Type="http://schemas.openxmlformats.org/officeDocument/2006/relationships/slideMaster" Target="../slideMasters/slideMaster1.xml"/><Relationship Id="R3e78b61bb3734c8f" Type="http://schemas.openxmlformats.org/officeDocument/2006/relationships/image" Target="../media/image.png"/><Relationship Id="R44857ba6a95a4e62" Type="http://schemas.openxmlformats.org/officeDocument/2006/relationships/image" Target="../media/image2.png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hape 0">
            <a:extLst xmlns:a="http://schemas.openxmlformats.org/drawingml/2006/main">
              <a:ext uri="{FF2B5EF4-FFF2-40B4-BE49-F238E27FC236}">
                <a16:creationId xmlns:a16="http://schemas.microsoft.com/office/drawing/2014/main" id="{2BD26DD0-A441-CDA1-C7C4-500C0B482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3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30e8cce0d24c2e">
            <a:alphaModFix amt="15000"/>
          </a:blip>
          <a:srcRect xmlns:a="http://schemas.openxmlformats.org/drawingml/2006/main" l="12327" t="0" r="12327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5" name="Shape 1">
            <a:extLst xmlns:a="http://schemas.openxmlformats.org/drawingml/2006/main">
              <a:ext uri="{FF2B5EF4-FFF2-40B4-BE49-F238E27FC236}">
                <a16:creationId xmlns:a16="http://schemas.microsoft.com/office/drawing/2014/main" id="{2896CD82-D6A3-3A0B-5BEE-489BF15E9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6207"/>
            <a:ext cx="11048695" cy="666598"/>
          </a:xfrm>
          <a:prstGeom xmlns:a="http://schemas.openxmlformats.org/drawingml/2006/main" prst="roundRect">
            <a:avLst>
              <a:gd name="adj" fmla="val 15677"/>
            </a:avLst>
          </a:prstGeom>
          <a:solidFill xmlns:a="http://schemas.openxmlformats.org/drawingml/2006/main">
            <a:srgbClr val="FFFFFF">
              <a:alpha val="95000"/>
            </a:srgbClr>
          </a:solidFill>
          <a:effectLst xmlns:a="http://schemas.openxmlformats.org/drawingml/2006/main"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78b61bb3734c8f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58500" y="381305"/>
            <a:ext cx="476402" cy="476402"/>
          </a:xfrm>
          <a:prstGeom xmlns:a="http://schemas.openxmlformats.org/drawingml/2006/main" prst="rect">
            <a:avLst/>
          </a:prstGeom>
        </p:spPr>
      </p:pic>
      <p:pic>
        <p:nvPicPr>
          <p:cNvPr id="43" name="Picture 28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857ba6a95a4e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8356" y="381305"/>
            <a:ext cx="5745480" cy="46736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<?xml version='1.0' encoding='UTF-8' standalone='yes'?>
<Relationships xmlns="http://schemas.openxmlformats.org/package/2006/relationships"><Relationship Id="R3bd1e8cbd0974181" Type="http://schemas.openxmlformats.org/officeDocument/2006/relationships/theme" Target="theme/theme2.xml"/><Relationship Id="Rc44a6ec30c3b4e86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44a6ec30c3b4e86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ef8c15a862048bb" Type="http://schemas.openxmlformats.org/officeDocument/2006/relationships/image" Target="../media/image5.png"/><Relationship Id="R48566c8e13d04035" Type="http://schemas.openxmlformats.org/officeDocument/2006/relationships/image" Target="../media/image6.png"/><Relationship Id="R5391561ef8b0416b" Type="http://schemas.openxmlformats.org/officeDocument/2006/relationships/slideLayout" Target="../slideLayouts/slideLayout1.xml"/><Relationship Id="R7e5825a1d7e548e0" Type="http://schemas.openxmlformats.org/officeDocument/2006/relationships/image" Target="../media/image3.png"/><Relationship Id="R8bb6a2a42f034093" Type="http://schemas.openxmlformats.org/officeDocument/2006/relationships/notesSlide" Target="../notesSlides/notesSlide1.xml"/><Relationship Id="R925faf94229446bc" Type="http://schemas.openxmlformats.org/officeDocument/2006/relationships/image" Target="../media/image7.png"/><Relationship Id="Rc8f5c0e0c5214065" Type="http://schemas.openxmlformats.org/officeDocument/2006/relationships/image" Target="../media/image4.png"/><Relationship Id="Rfe2b7baae5de468e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42918757ae004f62" Type="http://schemas.openxmlformats.org/officeDocument/2006/relationships/image" Target="../media/image.jpeg"/><Relationship Id="Rdb761b99c0704df5" Type="http://schemas.openxmlformats.org/officeDocument/2006/relationships/slideLayout" Target="../slideLayouts/slideLayout1.xml"/><Relationship Id="Rdd47218d3c294f4a" Type="http://schemas.openxmlformats.org/officeDocument/2006/relationships/image" Target="../media/image9.png"/><Relationship Id="Rdeb03b77d56645b1" Type="http://schemas.openxmlformats.org/officeDocument/2006/relationships/image" Target="../media/image8.png"/><Relationship Id="Re59382809f7f4f19" Type="http://schemas.openxmlformats.org/officeDocument/2006/relationships/notesSlide" Target="../notesSlides/notesSlide2.xml"/><Relationship Id="Re7d6ea3112764509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18cc152659f343a2" Type="http://schemas.openxmlformats.org/officeDocument/2006/relationships/image" Target="../media/image9.png"/><Relationship Id="R4bf5283b14ae485f" Type="http://schemas.openxmlformats.org/officeDocument/2006/relationships/image" Target="../media/image2.jpeg"/><Relationship Id="R72a1ae349e3c4edd" Type="http://schemas.openxmlformats.org/officeDocument/2006/relationships/image" Target="../media/image.jpeg"/><Relationship Id="R894ec9f8017c4c9f" Type="http://schemas.openxmlformats.org/officeDocument/2006/relationships/image" Target="../media/image.png"/><Relationship Id="R8ceceeecf49542ba" Type="http://schemas.openxmlformats.org/officeDocument/2006/relationships/notesSlide" Target="../notesSlides/notesSlide3.xml"/><Relationship Id="Ra3719005d2fc4710" Type="http://schemas.openxmlformats.org/officeDocument/2006/relationships/image" Target="../media/image7.png"/><Relationship Id="Rdbc782a34ba049a3" Type="http://schemas.openxmlformats.org/officeDocument/2006/relationships/slideLayout" Target="../slideLayouts/slideLayout1.xml"/><Relationship Id="Ref029cb35e94431f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26fefd5c31f04031" Type="http://schemas.openxmlformats.org/officeDocument/2006/relationships/image" Target="../media/image2.jpeg"/><Relationship Id="R43c28a43f96b44e6" Type="http://schemas.openxmlformats.org/officeDocument/2006/relationships/image" Target="../media/image7.png"/><Relationship Id="R5cbf98faf9104c1b" Type="http://schemas.openxmlformats.org/officeDocument/2006/relationships/slideLayout" Target="../slideLayouts/slideLayout1.xml"/><Relationship Id="R5ceb19b3d6d64f78" Type="http://schemas.openxmlformats.org/officeDocument/2006/relationships/notesSlide" Target="../notesSlides/notesSlide4.xml"/><Relationship Id="R9ebbf0dbb59e44ad" Type="http://schemas.openxmlformats.org/officeDocument/2006/relationships/image" Target="../media/image.png"/><Relationship Id="Rbddb613457664f17" Type="http://schemas.openxmlformats.org/officeDocument/2006/relationships/image" Target="../media/image9.png"/><Relationship Id="Rc4745ef35c504e16" Type="http://schemas.openxmlformats.org/officeDocument/2006/relationships/image" Target="../media/image.jpeg"/><Relationship Id="Ree8f70cfb9614c67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0e91957514eb4fb0" Type="http://schemas.openxmlformats.org/officeDocument/2006/relationships/slideLayout" Target="../slideLayouts/slideLayout1.xml"/><Relationship Id="R197a71eb513046e9" Type="http://schemas.openxmlformats.org/officeDocument/2006/relationships/image" Target="../media/image9.png"/><Relationship Id="R2cb7ad95afba414f" Type="http://schemas.openxmlformats.org/officeDocument/2006/relationships/image" Target="../media/image7.png"/><Relationship Id="R7c266003fcc84235" Type="http://schemas.openxmlformats.org/officeDocument/2006/relationships/notesSlide" Target="../notesSlides/notesSlide5.xml"/><Relationship Id="R8bfb0d6aeae04999" Type="http://schemas.openxmlformats.org/officeDocument/2006/relationships/image" Target="../media/image10.png"/><Relationship Id="R9c14111ba3ba4f35" Type="http://schemas.openxmlformats.org/officeDocument/2006/relationships/image" Target="../media/image.png"/><Relationship Id="Rb0f14da1464c4b42" Type="http://schemas.openxmlformats.org/officeDocument/2006/relationships/image" Target="../media/image2.jpeg"/><Relationship Id="Rb6bc855f69e64cf4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image" Target="../media/image2.jpeg"/><Relationship Id="rId4" Type="http://schemas.openxmlformats.org/officeDocument/2006/relationships/image" Target="../media/image.png"/><Relationship Id="rId5" Type="http://schemas.openxmlformats.org/officeDocument/2006/relationships/image" Target="../media/image10.png"/><Relationship Id="rId6" Type="http://schemas.openxmlformats.org/officeDocument/2006/relationships/image" Target="../media/image9.png"/><Relationship Id="rId7" Type="http://schemas.openxmlformats.org/officeDocument/2006/relationships/image" Target="../media/image7.png"/><Relationship Id="rId8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18383451bfc0414c" Type="http://schemas.openxmlformats.org/officeDocument/2006/relationships/image" Target="../media/image.jpeg"/><Relationship Id="R2b3c9b7162ba43f8" Type="http://schemas.openxmlformats.org/officeDocument/2006/relationships/slideLayout" Target="../slideLayouts/slideLayout1.xml"/><Relationship Id="R2bb3610c559a4984" Type="http://schemas.openxmlformats.org/officeDocument/2006/relationships/image" Target="../media/image12.png"/><Relationship Id="R5534aaa87cac4fc0" Type="http://schemas.openxmlformats.org/officeDocument/2006/relationships/image" Target="../media/image14.png"/><Relationship Id="R807fe3c575e34d98" Type="http://schemas.openxmlformats.org/officeDocument/2006/relationships/image" Target="../media/image13.png"/><Relationship Id="R9eaee066d20245c2" Type="http://schemas.openxmlformats.org/officeDocument/2006/relationships/notesSlide" Target="../notesSlides/notesSlide6.xml"/><Relationship Id="Rb93255294095460e" Type="http://schemas.openxmlformats.org/officeDocument/2006/relationships/image" Target="../media/image15.png"/><Relationship Id="Rbdb714b82a3d4cc5" Type="http://schemas.openxmlformats.org/officeDocument/2006/relationships/image" Target="../media/image2.jpeg"/><Relationship Id="Rc250c424e69846ec" Type="http://schemas.openxmlformats.org/officeDocument/2006/relationships/image" Target="../media/image.png"/><Relationship Id="Re08381ac0b9243df" Type="http://schemas.openxmlformats.org/officeDocument/2006/relationships/image" Target="../media/image9.png"/><Relationship Id="Re6aeb8479a9847a6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02a4233f212a4117" Type="http://schemas.openxmlformats.org/officeDocument/2006/relationships/image" Target="../media/image7.png"/><Relationship Id="R1bff38b57a55401f" Type="http://schemas.openxmlformats.org/officeDocument/2006/relationships/image" Target="../media/image.jpeg"/><Relationship Id="R41def692a7c347ee" Type="http://schemas.openxmlformats.org/officeDocument/2006/relationships/image" Target="../media/image.png"/><Relationship Id="R43f2fcf545a74ddd" Type="http://schemas.openxmlformats.org/officeDocument/2006/relationships/image" Target="../media/image2.jpeg"/><Relationship Id="R5e1489bab4ce4354" Type="http://schemas.openxmlformats.org/officeDocument/2006/relationships/image" Target="../media/image9.png"/><Relationship Id="R76d07787f4e946d7" Type="http://schemas.openxmlformats.org/officeDocument/2006/relationships/slideLayout" Target="../slideLayouts/slideLayout1.xml"/><Relationship Id="R808b02de48434bc3" Type="http://schemas.openxmlformats.org/officeDocument/2006/relationships/image" Target="../media/image16.png"/><Relationship Id="R80cfbd1d22fd45ca" Type="http://schemas.openxmlformats.org/officeDocument/2006/relationships/notesSlide" Target="../notesSlides/notesSlide7.xml"/><Relationship Id="Reed5ab06475047d1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image" Target="../media/image2.jpeg"/><Relationship Id="rId4" Type="http://schemas.openxmlformats.org/officeDocument/2006/relationships/image" Target="../media/image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9.png"/><Relationship Id="rId8" Type="http://schemas.openxmlformats.org/officeDocument/2006/relationships/image" Target="../media/image7.png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76D071B-BEC4-40EC-A318-508C08D31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3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2b7baae5de468e">
            <a:alphaModFix amt="15000"/>
          </a:blip>
          <a:srcRect xmlns:a="http://schemas.openxmlformats.org/drawingml/2006/main" l="12327" t="0" r="12327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Shape 2">
            <a:extLst xmlns:a="http://schemas.openxmlformats.org/drawingml/2006/main">
              <a:ext uri="{FF2B5EF4-FFF2-40B4-BE49-F238E27FC236}">
                <a16:creationId xmlns:a16="http://schemas.microsoft.com/office/drawing/2014/main" id="{096E7DCD-E9BC-42F2-80E4-A66EE3831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47549" cy="2761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E55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3">
            <a:extLst xmlns:a="http://schemas.openxmlformats.org/drawingml/2006/main">
              <a:ext uri="{FF2B5EF4-FFF2-40B4-BE49-F238E27FC236}">
                <a16:creationId xmlns:a16="http://schemas.microsoft.com/office/drawing/2014/main" id="{49EE67C6-BE51-40D7-8A62-CF8AFEBE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405" y="1170432"/>
            <a:ext cx="2438705" cy="362102"/>
          </a:xfrm>
          <a:prstGeom xmlns:a="http://schemas.openxmlformats.org/drawingml/2006/main" prst="roundRect">
            <a:avLst>
              <a:gd name="adj" fmla="val 26582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12700">
            <a:solidFill>
              <a:srgbClr val="34D39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hape 4">
            <a:extLst xmlns:a="http://schemas.openxmlformats.org/drawingml/2006/main">
              <a:ext uri="{FF2B5EF4-FFF2-40B4-BE49-F238E27FC236}">
                <a16:creationId xmlns:a16="http://schemas.microsoft.com/office/drawing/2014/main" id="{B7A740AF-5359-4FF4-9E54-F5DB670F9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2671"/>
            <a:ext cx="11048695" cy="2171700"/>
          </a:xfrm>
          <a:prstGeom xmlns:a="http://schemas.openxmlformats.org/drawingml/2006/main" prst="roundRect">
            <a:avLst>
              <a:gd name="adj" fmla="val 2216"/>
            </a:avLst>
          </a:prstGeom>
          <a:solidFill xmlns:a="http://schemas.openxmlformats.org/drawingml/2006/main">
            <a:srgbClr val="273383">
              <a:alpha val="30000"/>
            </a:srgbClr>
          </a:solidFill>
          <a:ln xmlns:a="http://schemas.openxmlformats.org/drawingml/2006/main" w="12700">
            <a:solidFill>
              <a:srgbClr val="88E555">
                <a:alpha val="20000"/>
              </a:srgbClr>
            </a:solidFill>
            <a:prstDash val="solid"/>
          </a:ln>
          <a:effectLst xmlns:a="http://schemas.openxmlformats.org/drawingml/2006/main">
            <a:outerShdw blurRad="190500" dist="101600" dir="5400000" algn="bl" rotWithShape="0">
              <a:srgbClr val="000000">
                <a:alpha val="2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Shape 5">
            <a:extLst xmlns:a="http://schemas.openxmlformats.org/drawingml/2006/main">
              <a:ext uri="{FF2B5EF4-FFF2-40B4-BE49-F238E27FC236}">
                <a16:creationId xmlns:a16="http://schemas.microsoft.com/office/drawing/2014/main" id="{731BCD60-7646-4751-91FB-B3985BFC6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" y="1721815"/>
            <a:ext cx="1104595" cy="43799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38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6">
            <a:extLst xmlns:a="http://schemas.openxmlformats.org/drawingml/2006/main">
              <a:ext uri="{FF2B5EF4-FFF2-40B4-BE49-F238E27FC236}">
                <a16:creationId xmlns:a16="http://schemas.microsoft.com/office/drawing/2014/main" id="{CAC1D960-B55A-43D1-9EB7-08B4A0C7A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325" y="1721815"/>
            <a:ext cx="2210105" cy="43799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38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hape 7">
            <a:extLst xmlns:a="http://schemas.openxmlformats.org/drawingml/2006/main">
              <a:ext uri="{FF2B5EF4-FFF2-40B4-BE49-F238E27FC236}">
                <a16:creationId xmlns:a16="http://schemas.microsoft.com/office/drawing/2014/main" id="{0219BEC6-0BE8-408D-A8D2-3530280F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9858" y="1721815"/>
            <a:ext cx="4419295" cy="43799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38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Shape 8">
            <a:extLst xmlns:a="http://schemas.openxmlformats.org/drawingml/2006/main">
              <a:ext uri="{FF2B5EF4-FFF2-40B4-BE49-F238E27FC236}">
                <a16:creationId xmlns:a16="http://schemas.microsoft.com/office/drawing/2014/main" id="{18142395-AC35-401C-B7FC-CD9605270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1838" y="1721815"/>
            <a:ext cx="3314700" cy="43799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383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hape 9">
            <a:extLst xmlns:a="http://schemas.openxmlformats.org/drawingml/2006/main">
              <a:ext uri="{FF2B5EF4-FFF2-40B4-BE49-F238E27FC236}">
                <a16:creationId xmlns:a16="http://schemas.microsoft.com/office/drawing/2014/main" id="{4CD6EB8F-C345-4AE3-89B7-21543C13B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" y="2604211"/>
            <a:ext cx="110459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Shape 10">
            <a:extLst xmlns:a="http://schemas.openxmlformats.org/drawingml/2006/main">
              <a:ext uri="{FF2B5EF4-FFF2-40B4-BE49-F238E27FC236}">
                <a16:creationId xmlns:a16="http://schemas.microsoft.com/office/drawing/2014/main" id="{F01EB7CB-7744-461C-A640-EE02C4A3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325" y="2604211"/>
            <a:ext cx="22101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382D467A-8388-472B-A2FE-0A09B3CC1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9858" y="2604211"/>
            <a:ext cx="441929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7053A008-B8E0-4DBF-9801-A7553E51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1838" y="2604211"/>
            <a:ext cx="3314700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Shape 13">
            <a:extLst xmlns:a="http://schemas.openxmlformats.org/drawingml/2006/main">
              <a:ext uri="{FF2B5EF4-FFF2-40B4-BE49-F238E27FC236}">
                <a16:creationId xmlns:a16="http://schemas.microsoft.com/office/drawing/2014/main" id="{B3E9D6D4-9248-4F0B-B142-AC8E0527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" y="2606954"/>
            <a:ext cx="11030407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3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7C1919F8-0FE8-4ABF-B700-556C79511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" y="3055010"/>
            <a:ext cx="110459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Shape 15">
            <a:extLst xmlns:a="http://schemas.openxmlformats.org/drawingml/2006/main">
              <a:ext uri="{FF2B5EF4-FFF2-40B4-BE49-F238E27FC236}">
                <a16:creationId xmlns:a16="http://schemas.microsoft.com/office/drawing/2014/main" id="{234672BA-86DE-479D-9F81-F90675B6F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325" y="3055010"/>
            <a:ext cx="22101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F7E2D64D-B9A5-428A-B45A-7B09BFBB2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9858" y="3055010"/>
            <a:ext cx="441929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Shape 17">
            <a:extLst xmlns:a="http://schemas.openxmlformats.org/drawingml/2006/main">
              <a:ext uri="{FF2B5EF4-FFF2-40B4-BE49-F238E27FC236}">
                <a16:creationId xmlns:a16="http://schemas.microsoft.com/office/drawing/2014/main" id="{AD101699-DC50-43E1-B16F-2E8A9A67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1838" y="3055010"/>
            <a:ext cx="3314700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Shape 18">
            <a:extLst xmlns:a="http://schemas.openxmlformats.org/drawingml/2006/main">
              <a:ext uri="{FF2B5EF4-FFF2-40B4-BE49-F238E27FC236}">
                <a16:creationId xmlns:a16="http://schemas.microsoft.com/office/drawing/2014/main" id="{0585198A-F2BE-477F-A597-8DEDE035E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" y="3510382"/>
            <a:ext cx="110459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Shape 19">
            <a:extLst xmlns:a="http://schemas.openxmlformats.org/drawingml/2006/main">
              <a:ext uri="{FF2B5EF4-FFF2-40B4-BE49-F238E27FC236}">
                <a16:creationId xmlns:a16="http://schemas.microsoft.com/office/drawing/2014/main" id="{D2D21552-419F-432C-8559-0062C2B4E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325" y="3510382"/>
            <a:ext cx="22101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0">
            <a:extLst xmlns:a="http://schemas.openxmlformats.org/drawingml/2006/main">
              <a:ext uri="{FF2B5EF4-FFF2-40B4-BE49-F238E27FC236}">
                <a16:creationId xmlns:a16="http://schemas.microsoft.com/office/drawing/2014/main" id="{4FB35C11-DBC5-47EA-BCD2-66F86968A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9858" y="3510382"/>
            <a:ext cx="441929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Shape 21">
            <a:extLst xmlns:a="http://schemas.openxmlformats.org/drawingml/2006/main">
              <a:ext uri="{FF2B5EF4-FFF2-40B4-BE49-F238E27FC236}">
                <a16:creationId xmlns:a16="http://schemas.microsoft.com/office/drawing/2014/main" id="{FA5C3970-54F2-4EDD-9F73-95ED1BA4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1838" y="3510382"/>
            <a:ext cx="3314700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Shape 22">
            <a:extLst xmlns:a="http://schemas.openxmlformats.org/drawingml/2006/main">
              <a:ext uri="{FF2B5EF4-FFF2-40B4-BE49-F238E27FC236}">
                <a16:creationId xmlns:a16="http://schemas.microsoft.com/office/drawing/2014/main" id="{5DE453FE-0238-4FCC-A6C3-249A17FA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" y="3517697"/>
            <a:ext cx="11030407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3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00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5825a1d7e548e0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71500" y="4151376"/>
            <a:ext cx="133502" cy="133502"/>
          </a:xfrm>
          <a:prstGeom xmlns:a="http://schemas.openxmlformats.org/drawingml/2006/main" prst="rect">
            <a:avLst/>
          </a:prstGeom>
        </p:spPr>
      </p:pic>
      <p:sp>
        <p:nvSpPr>
          <p:cNvPr id="29" name="Text 23">
            <a:extLst xmlns:a="http://schemas.openxmlformats.org/drawingml/2006/main">
              <a:ext uri="{FF2B5EF4-FFF2-40B4-BE49-F238E27FC236}">
                <a16:creationId xmlns:a16="http://schemas.microsoft.com/office/drawing/2014/main" id="{B6552FC8-9B41-416F-BE66-BB5ED6DFC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898" y="4120286"/>
            <a:ext cx="5574182" cy="2002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 i="1">
                <a:solidFill>
                  <a:srgbClr val="AAAAAA"/>
                </a:solidFill>
                <a:latin typeface="Poppins"/>
                <a:ea typeface="Poppins"/>
                <a:cs typeface="Poppins"/>
              </a:rPr>
              <a:t>A team can have up to 4 members including the team leader. Add rows if necessary.</a:t>
            </a:r>
            <a:endParaRPr sz="1000" b="1"/>
          </a:p>
        </p:txBody>
      </p:sp>
      <p:sp>
        <p:nvSpPr>
          <p:cNvPr id="30" name="Shape 24">
            <a:extLst xmlns:a="http://schemas.openxmlformats.org/drawingml/2006/main">
              <a:ext uri="{FF2B5EF4-FFF2-40B4-BE49-F238E27FC236}">
                <a16:creationId xmlns:a16="http://schemas.microsoft.com/office/drawing/2014/main" id="{EA60CA9D-22B7-47F0-8FC7-795A0B00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43654"/>
            <a:ext cx="11048695" cy="2029054"/>
          </a:xfrm>
          <a:prstGeom xmlns:a="http://schemas.openxmlformats.org/drawingml/2006/main" prst="roundRect">
            <a:avLst>
              <a:gd name="adj" fmla="val 2539"/>
            </a:avLst>
          </a:prstGeom>
          <a:solidFill xmlns:a="http://schemas.openxmlformats.org/drawingml/2006/main">
            <a:srgbClr val="FFFFFF">
              <a:alpha val="5000"/>
            </a:srgbClr>
          </a:solidFill>
          <a:ln xmlns:a="http://schemas.openxmlformats.org/drawingml/2006/main" w="12700">
            <a:solidFill>
              <a:srgbClr val="1E3A8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Shape 25">
            <a:extLst xmlns:a="http://schemas.openxmlformats.org/drawingml/2006/main">
              <a:ext uri="{FF2B5EF4-FFF2-40B4-BE49-F238E27FC236}">
                <a16:creationId xmlns:a16="http://schemas.microsoft.com/office/drawing/2014/main" id="{3D75023F-963D-4949-8F15-A11E53079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4" y="5048402"/>
            <a:ext cx="10649102" cy="437998"/>
          </a:xfrm>
          <a:prstGeom xmlns:a="http://schemas.openxmlformats.org/drawingml/2006/main" prst="roundRect">
            <a:avLst>
              <a:gd name="adj" fmla="val 27231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Shape 26">
            <a:extLst xmlns:a="http://schemas.openxmlformats.org/drawingml/2006/main">
              <a:ext uri="{FF2B5EF4-FFF2-40B4-BE49-F238E27FC236}">
                <a16:creationId xmlns:a16="http://schemas.microsoft.com/office/drawing/2014/main" id="{2DAAC860-0717-47BC-B798-1C07981B1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4" y="5934456"/>
            <a:ext cx="5229454" cy="437998"/>
          </a:xfrm>
          <a:prstGeom xmlns:a="http://schemas.openxmlformats.org/drawingml/2006/main" prst="roundRect">
            <a:avLst>
              <a:gd name="adj" fmla="val 27231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" name="Shape 27">
            <a:extLst xmlns:a="http://schemas.openxmlformats.org/drawingml/2006/main">
              <a:ext uri="{FF2B5EF4-FFF2-40B4-BE49-F238E27FC236}">
                <a16:creationId xmlns:a16="http://schemas.microsoft.com/office/drawing/2014/main" id="{96138FA0-DFC7-4A39-9A92-EDCA2B4F6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402" y="5934456"/>
            <a:ext cx="5229454" cy="437998"/>
          </a:xfrm>
          <a:prstGeom xmlns:a="http://schemas.openxmlformats.org/drawingml/2006/main" prst="roundRect">
            <a:avLst>
              <a:gd name="adj" fmla="val 27231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" name="Text 28">
            <a:extLst xmlns:a="http://schemas.openxmlformats.org/drawingml/2006/main">
              <a:ext uri="{FF2B5EF4-FFF2-40B4-BE49-F238E27FC236}">
                <a16:creationId xmlns:a16="http://schemas.microsoft.com/office/drawing/2014/main" id="{9EE62F7F-CAE9-4ED4-8DC3-4953EB1C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95" y="1086307"/>
            <a:ext cx="2053742" cy="3813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Team Details</a:t>
            </a:r>
            <a:endParaRPr sz="2100"/>
          </a:p>
        </p:txBody>
      </p:sp>
      <p:sp>
        <p:nvSpPr>
          <p:cNvPr id="35" name="Text 29">
            <a:extLst xmlns:a="http://schemas.openxmlformats.org/drawingml/2006/main">
              <a:ext uri="{FF2B5EF4-FFF2-40B4-BE49-F238E27FC236}">
                <a16:creationId xmlns:a16="http://schemas.microsoft.com/office/drawing/2014/main" id="{30D5564C-7CB5-4609-9922-85C6512A7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6895" y="1237183"/>
            <a:ext cx="110551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AEFF82"/>
                </a:solidFill>
                <a:latin typeface="Poppins"/>
                <a:ea typeface="Poppins"/>
                <a:cs typeface="Poppins"/>
              </a:rPr>
              <a:t>Team Name:</a:t>
            </a:r>
            <a:endParaRPr sz="1200"/>
          </a:p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82BAC941-1259-47F2-BF7D-2D30AF6ED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4" y="1836115"/>
            <a:ext cx="598932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AEFF82"/>
                </a:solidFill>
                <a:latin typeface="Poppins"/>
                <a:ea typeface="Poppins"/>
                <a:cs typeface="Poppins"/>
              </a:rPr>
              <a:t>SR. NO</a:t>
            </a:r>
            <a:endParaRPr sz="1000"/>
          </a:p>
        </p:txBody>
      </p:sp>
      <p:sp>
        <p:nvSpPr>
          <p:cNvPr id="37" name="Text 31">
            <a:extLst xmlns:a="http://schemas.openxmlformats.org/drawingml/2006/main">
              <a:ext uri="{FF2B5EF4-FFF2-40B4-BE49-F238E27FC236}">
                <a16:creationId xmlns:a16="http://schemas.microsoft.com/office/drawing/2014/main" id="{4983D2EE-317E-4218-8107-D899475A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1836115"/>
            <a:ext cx="46543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AEFF82"/>
                </a:solidFill>
                <a:latin typeface="Poppins"/>
                <a:ea typeface="Poppins"/>
                <a:cs typeface="Poppins"/>
              </a:rPr>
              <a:t>ROLE</a:t>
            </a:r>
            <a:endParaRPr sz="1000"/>
          </a:p>
        </p:txBody>
      </p:sp>
      <p:sp>
        <p:nvSpPr>
          <p:cNvPr id="38" name="Text 32">
            <a:extLst xmlns:a="http://schemas.openxmlformats.org/drawingml/2006/main">
              <a:ext uri="{FF2B5EF4-FFF2-40B4-BE49-F238E27FC236}">
                <a16:creationId xmlns:a16="http://schemas.microsoft.com/office/drawing/2014/main" id="{808D06CB-8CF1-46A5-BE73-04C410B0B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0053" y="1836115"/>
            <a:ext cx="532181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AEFF82"/>
                </a:solidFill>
                <a:latin typeface="Poppins"/>
                <a:ea typeface="Poppins"/>
                <a:cs typeface="Poppins"/>
              </a:rPr>
              <a:t>NAME</a:t>
            </a:r>
            <a:endParaRPr sz="1000"/>
          </a:p>
        </p:txBody>
      </p:sp>
      <p:sp>
        <p:nvSpPr>
          <p:cNvPr id="39" name="Text 33">
            <a:extLst xmlns:a="http://schemas.openxmlformats.org/drawingml/2006/main">
              <a:ext uri="{FF2B5EF4-FFF2-40B4-BE49-F238E27FC236}">
                <a16:creationId xmlns:a16="http://schemas.microsoft.com/office/drawing/2014/main" id="{266FF3FC-A3D4-4897-842C-958BCDAC2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2033" y="1836115"/>
            <a:ext cx="1313078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AEFF82"/>
                </a:solidFill>
                <a:latin typeface="Poppins"/>
                <a:ea typeface="Poppins"/>
                <a:cs typeface="Poppins"/>
              </a:rPr>
              <a:t>ACADEMIC YEAR</a:t>
            </a:r>
            <a:endParaRPr sz="1000"/>
          </a:p>
        </p:txBody>
      </p:sp>
      <p:sp>
        <p:nvSpPr>
          <p:cNvPr id="40" name="Text 34">
            <a:extLst xmlns:a="http://schemas.openxmlformats.org/drawingml/2006/main">
              <a:ext uri="{FF2B5EF4-FFF2-40B4-BE49-F238E27FC236}">
                <a16:creationId xmlns:a16="http://schemas.microsoft.com/office/drawing/2014/main" id="{541C814E-4C71-4E37-8CF7-81F68D97C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4" y="2270455"/>
            <a:ext cx="156362" cy="2002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E0E0E0"/>
                </a:solidFill>
                <a:latin typeface="Poppins"/>
                <a:ea typeface="Poppins"/>
                <a:cs typeface="Poppins"/>
              </a:rPr>
              <a:t>1</a:t>
            </a:r>
            <a:endParaRPr sz="1100"/>
          </a:p>
        </p:txBody>
      </p:sp>
      <p:sp>
        <p:nvSpPr>
          <p:cNvPr id="41" name="Text 35">
            <a:extLst xmlns:a="http://schemas.openxmlformats.org/drawingml/2006/main">
              <a:ext uri="{FF2B5EF4-FFF2-40B4-BE49-F238E27FC236}">
                <a16:creationId xmlns:a16="http://schemas.microsoft.com/office/drawing/2014/main" id="{D5EC0187-2898-49B2-8024-16561A86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2270455"/>
            <a:ext cx="1070762" cy="2002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0E0E0"/>
                </a:solidFill>
                <a:latin typeface="Poppins"/>
                <a:ea typeface="Poppins"/>
                <a:cs typeface="Poppins"/>
              </a:rPr>
              <a:t>Team Leader</a:t>
            </a:r>
            <a:endParaRPr sz="1100"/>
          </a:p>
        </p:txBody>
      </p:sp>
      <p:sp>
        <p:nvSpPr>
          <p:cNvPr id="42" name="Text 36">
            <a:extLst xmlns:a="http://schemas.openxmlformats.org/drawingml/2006/main">
              <a:ext uri="{FF2B5EF4-FFF2-40B4-BE49-F238E27FC236}">
                <a16:creationId xmlns:a16="http://schemas.microsoft.com/office/drawing/2014/main" id="{5F3E4334-0ABD-4E14-8BB7-88DEE9FDD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4" y="2725826"/>
            <a:ext cx="194767" cy="2002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E0E0E0"/>
                </a:solidFill>
                <a:latin typeface="Poppins"/>
                <a:ea typeface="Poppins"/>
                <a:cs typeface="Poppins"/>
              </a:rPr>
              <a:t>2</a:t>
            </a:r>
            <a:endParaRPr sz="1100"/>
          </a:p>
        </p:txBody>
      </p:sp>
      <p:sp>
        <p:nvSpPr>
          <p:cNvPr id="43" name="Text 37">
            <a:extLst xmlns:a="http://schemas.openxmlformats.org/drawingml/2006/main">
              <a:ext uri="{FF2B5EF4-FFF2-40B4-BE49-F238E27FC236}">
                <a16:creationId xmlns:a16="http://schemas.microsoft.com/office/drawing/2014/main" id="{183DBC30-2B60-4723-90C2-CA2C5C2F5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2725826"/>
            <a:ext cx="804672" cy="2002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E0E0E0"/>
                </a:solidFill>
                <a:latin typeface="Poppins"/>
                <a:ea typeface="Poppins"/>
                <a:cs typeface="Poppins"/>
              </a:rPr>
              <a:t>Member 1</a:t>
            </a:r>
            <a:endParaRPr sz="1100"/>
          </a:p>
        </p:txBody>
      </p:sp>
      <p:sp>
        <p:nvSpPr>
          <p:cNvPr id="44" name="Text 38">
            <a:extLst xmlns:a="http://schemas.openxmlformats.org/drawingml/2006/main">
              <a:ext uri="{FF2B5EF4-FFF2-40B4-BE49-F238E27FC236}">
                <a16:creationId xmlns:a16="http://schemas.microsoft.com/office/drawing/2014/main" id="{9FF83D5E-AAA3-4E41-AD44-AA64AA46F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4" y="3181198"/>
            <a:ext cx="194767" cy="2002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E0E0E0"/>
                </a:solidFill>
                <a:latin typeface="Poppins"/>
                <a:ea typeface="Poppins"/>
                <a:cs typeface="Poppins"/>
              </a:rPr>
              <a:t>3</a:t>
            </a:r>
            <a:endParaRPr sz="1100"/>
          </a:p>
        </p:txBody>
      </p:sp>
      <p:sp>
        <p:nvSpPr>
          <p:cNvPr id="45" name="Text 39">
            <a:extLst xmlns:a="http://schemas.openxmlformats.org/drawingml/2006/main">
              <a:ext uri="{FF2B5EF4-FFF2-40B4-BE49-F238E27FC236}">
                <a16:creationId xmlns:a16="http://schemas.microsoft.com/office/drawing/2014/main" id="{0F21E30D-F84B-4612-86B3-DB2F31607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3181198"/>
            <a:ext cx="842162" cy="2002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E0E0E0"/>
                </a:solidFill>
                <a:latin typeface="Poppins"/>
                <a:ea typeface="Poppins"/>
                <a:cs typeface="Poppins"/>
              </a:rPr>
              <a:t>Member 2</a:t>
            </a:r>
            <a:endParaRPr sz="1100"/>
          </a:p>
        </p:txBody>
      </p:sp>
      <p:sp>
        <p:nvSpPr>
          <p:cNvPr id="46" name="Text 40">
            <a:extLst xmlns:a="http://schemas.openxmlformats.org/drawingml/2006/main">
              <a:ext uri="{FF2B5EF4-FFF2-40B4-BE49-F238E27FC236}">
                <a16:creationId xmlns:a16="http://schemas.microsoft.com/office/drawing/2014/main" id="{939591E0-F41E-4F84-A5AD-159C04396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4" y="3636569"/>
            <a:ext cx="203911" cy="2002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E0E0E0"/>
                </a:solidFill>
                <a:latin typeface="Poppins"/>
                <a:ea typeface="Poppins"/>
                <a:cs typeface="Poppins"/>
              </a:rPr>
              <a:t>4</a:t>
            </a:r>
            <a:endParaRPr sz="1100"/>
          </a:p>
        </p:txBody>
      </p:sp>
      <p:sp>
        <p:nvSpPr>
          <p:cNvPr id="47" name="Text 41">
            <a:extLst xmlns:a="http://schemas.openxmlformats.org/drawingml/2006/main">
              <a:ext uri="{FF2B5EF4-FFF2-40B4-BE49-F238E27FC236}">
                <a16:creationId xmlns:a16="http://schemas.microsoft.com/office/drawing/2014/main" id="{2B0A06EA-570D-493B-8BE6-44BAE96F9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3636569"/>
            <a:ext cx="842162" cy="2002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E0E0E0"/>
                </a:solidFill>
                <a:latin typeface="Poppins"/>
                <a:ea typeface="Poppins"/>
                <a:cs typeface="Poppins"/>
              </a:rPr>
              <a:t>Member 3</a:t>
            </a:r>
            <a:endParaRPr sz="1100"/>
          </a:p>
        </p:txBody>
      </p:sp>
      <p:pic>
        <p:nvPicPr>
          <p:cNvPr id="120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f5c0e0c5214065"/>
          <a:srcRect xmlns:a="http://schemas.openxmlformats.org/drawingml/2006/main" l="-2994" t="0" r="-2994" b="0"/>
          <a:stretch xmlns:a="http://schemas.openxmlformats.org/drawingml/2006/main"/>
        </p:blipFill>
        <p:spPr>
          <a:xfrm xmlns:a="http://schemas.openxmlformats.org/drawingml/2006/main">
            <a:off x="771754" y="4772254"/>
            <a:ext cx="161849" cy="152705"/>
          </a:xfrm>
          <a:prstGeom xmlns:a="http://schemas.openxmlformats.org/drawingml/2006/main" prst="rect">
            <a:avLst/>
          </a:prstGeom>
        </p:spPr>
      </p:pic>
      <p:sp>
        <p:nvSpPr>
          <p:cNvPr id="49" name="Text 42">
            <a:extLst xmlns:a="http://schemas.openxmlformats.org/drawingml/2006/main">
              <a:ext uri="{FF2B5EF4-FFF2-40B4-BE49-F238E27FC236}">
                <a16:creationId xmlns:a16="http://schemas.microsoft.com/office/drawing/2014/main" id="{1CC97CBB-78FF-4C24-BFA5-A67EAC0F3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498" y="4743907"/>
            <a:ext cx="1343254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AEFF82"/>
                </a:solidFill>
                <a:latin typeface="Poppins"/>
                <a:ea typeface="Poppins"/>
                <a:cs typeface="Poppins"/>
              </a:rPr>
              <a:t>COLLEGE NAME</a:t>
            </a:r>
            <a:endParaRPr sz="1200"/>
          </a:p>
        </p:txBody>
      </p:sp>
      <p:pic>
        <p:nvPicPr>
          <p:cNvPr id="122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f8c15a862048bb"/>
          <a:srcRect xmlns:a="http://schemas.openxmlformats.org/drawingml/2006/main" l="-2994" t="0" r="-2994" b="0"/>
          <a:stretch xmlns:a="http://schemas.openxmlformats.org/drawingml/2006/main"/>
        </p:blipFill>
        <p:spPr>
          <a:xfrm xmlns:a="http://schemas.openxmlformats.org/drawingml/2006/main">
            <a:off x="771754" y="5658307"/>
            <a:ext cx="161849" cy="152705"/>
          </a:xfrm>
          <a:prstGeom xmlns:a="http://schemas.openxmlformats.org/drawingml/2006/main" prst="rect">
            <a:avLst/>
          </a:prstGeom>
        </p:spPr>
      </p:pic>
      <p:sp>
        <p:nvSpPr>
          <p:cNvPr id="51" name="Text 43">
            <a:extLst xmlns:a="http://schemas.openxmlformats.org/drawingml/2006/main">
              <a:ext uri="{FF2B5EF4-FFF2-40B4-BE49-F238E27FC236}">
                <a16:creationId xmlns:a16="http://schemas.microsoft.com/office/drawing/2014/main" id="{6ED03CED-143B-4E50-91D2-45B1B31CC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498" y="5629046"/>
            <a:ext cx="2772461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AEFF82"/>
                </a:solidFill>
                <a:latin typeface="Poppins"/>
                <a:ea typeface="Poppins"/>
                <a:cs typeface="Poppins"/>
              </a:rPr>
              <a:t>TEAM LEADER CONTACT NUMBER</a:t>
            </a:r>
            <a:endParaRPr sz="1200"/>
          </a:p>
        </p:txBody>
      </p:sp>
      <p:pic>
        <p:nvPicPr>
          <p:cNvPr id="124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566c8e13d04035"/>
          <a:srcRect xmlns:a="http://schemas.openxmlformats.org/drawingml/2006/main" l="-2994" t="0" r="-2994" b="0"/>
          <a:stretch xmlns:a="http://schemas.openxmlformats.org/drawingml/2006/main"/>
        </p:blipFill>
        <p:spPr>
          <a:xfrm xmlns:a="http://schemas.openxmlformats.org/drawingml/2006/main">
            <a:off x="6191402" y="5658307"/>
            <a:ext cx="161849" cy="152705"/>
          </a:xfrm>
          <a:prstGeom xmlns:a="http://schemas.openxmlformats.org/drawingml/2006/main" prst="rect">
            <a:avLst/>
          </a:prstGeom>
        </p:spPr>
      </p:pic>
      <p:sp>
        <p:nvSpPr>
          <p:cNvPr id="53" name="Text 44">
            <a:extLst xmlns:a="http://schemas.openxmlformats.org/drawingml/2006/main">
              <a:ext uri="{FF2B5EF4-FFF2-40B4-BE49-F238E27FC236}">
                <a16:creationId xmlns:a16="http://schemas.microsoft.com/office/drawing/2014/main" id="{D05B5988-BC66-46F2-B422-6637A22B2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146" y="5629046"/>
            <a:ext cx="2514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AEFF82"/>
                </a:solidFill>
                <a:latin typeface="Poppins"/>
                <a:ea typeface="Poppins"/>
                <a:cs typeface="Poppins"/>
              </a:rPr>
              <a:t>TEAM LEADER EMAIL ADDRESS</a:t>
            </a:r>
            <a:endParaRPr sz="1200"/>
          </a:p>
        </p:txBody>
      </p:sp>
      <p:sp>
        <p:nvSpPr>
          <p:cNvPr id="54" name="Text 45">
            <a:extLst xmlns:a="http://schemas.openxmlformats.org/drawingml/2006/main">
              <a:ext uri="{FF2B5EF4-FFF2-40B4-BE49-F238E27FC236}">
                <a16:creationId xmlns:a16="http://schemas.microsoft.com/office/drawing/2014/main" id="{61C7FDAF-9AC6-45FF-8362-D38B5EDD9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254" y="1256386"/>
            <a:ext cx="1719986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FFFFFF">
                    <a:alpha val="70000"/>
                  </a:srgbClr>
                </a:solidFill>
                <a:latin typeface="Poppins"/>
                <a:ea typeface="Poppins"/>
                <a:cs typeface="Poppins"/>
              </a:rPr>
              <a:t>EdgeRestore-LK Stark Industries</a:t>
            </a:r>
            <a:endParaRPr sz="1000"/>
          </a:p>
        </p:txBody>
      </p:sp>
      <p:sp>
        <p:nvSpPr>
          <p:cNvPr id="55" name="Text 46">
            <a:extLst xmlns:a="http://schemas.openxmlformats.org/drawingml/2006/main">
              <a:ext uri="{FF2B5EF4-FFF2-40B4-BE49-F238E27FC236}">
                <a16:creationId xmlns:a16="http://schemas.microsoft.com/office/drawing/2014/main" id="{C68C0527-7F87-4684-92BF-C59400691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0053" y="2270455"/>
            <a:ext cx="1089965" cy="2002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i="1">
                <a:solidFill>
                  <a:srgbClr val="E0E0E0">
                    <a:alpha val="50000"/>
                  </a:srgbClr>
                </a:solidFill>
                <a:latin typeface="Poppins"/>
                <a:ea typeface="Poppins"/>
                <a:cs typeface="Poppins"/>
              </a:rPr>
              <a:t>Vikaash R</a:t>
            </a:r>
            <a:endParaRPr sz="1100"/>
          </a:p>
        </p:txBody>
      </p:sp>
      <p:sp>
        <p:nvSpPr>
          <p:cNvPr id="56" name="Text 47">
            <a:extLst xmlns:a="http://schemas.openxmlformats.org/drawingml/2006/main">
              <a:ext uri="{FF2B5EF4-FFF2-40B4-BE49-F238E27FC236}">
                <a16:creationId xmlns:a16="http://schemas.microsoft.com/office/drawing/2014/main" id="{AF322A9B-150C-40F6-BD14-C0EA7EB32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2033" y="2270455"/>
            <a:ext cx="975665" cy="2002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i="1">
                <a:solidFill>
                  <a:srgbClr val="E0E0E0">
                    <a:alpha val="50000"/>
                  </a:srgbClr>
                </a:solidFill>
                <a:latin typeface="Poppins"/>
                <a:ea typeface="Poppins"/>
                <a:cs typeface="Poppins"/>
              </a:rPr>
              <a:t>3rd Year</a:t>
            </a:r>
            <a:endParaRPr sz="1100"/>
          </a:p>
        </p:txBody>
      </p:sp>
      <p:sp>
        <p:nvSpPr>
          <p:cNvPr id="57" name="Text 48">
            <a:extLst xmlns:a="http://schemas.openxmlformats.org/drawingml/2006/main">
              <a:ext uri="{FF2B5EF4-FFF2-40B4-BE49-F238E27FC236}">
                <a16:creationId xmlns:a16="http://schemas.microsoft.com/office/drawing/2014/main" id="{EA658E6B-D684-4E1F-B817-BA4EAC37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0053" y="2725826"/>
            <a:ext cx="1089965" cy="2002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i="1">
                <a:solidFill>
                  <a:srgbClr val="E0E0E0">
                    <a:alpha val="50000"/>
                  </a:srgbClr>
                </a:solidFill>
                <a:latin typeface="Poppins"/>
                <a:ea typeface="Poppins"/>
                <a:cs typeface="Poppins"/>
              </a:rPr>
              <a:t>Mervin</a:t>
            </a:r>
            <a:endParaRPr sz="1100"/>
          </a:p>
        </p:txBody>
      </p:sp>
      <p:sp>
        <p:nvSpPr>
          <p:cNvPr id="58" name="Text 49">
            <a:extLst xmlns:a="http://schemas.openxmlformats.org/drawingml/2006/main">
              <a:ext uri="{FF2B5EF4-FFF2-40B4-BE49-F238E27FC236}">
                <a16:creationId xmlns:a16="http://schemas.microsoft.com/office/drawing/2014/main" id="{BDA432A4-2332-40A1-B32E-FE7023203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2033" y="2725826"/>
            <a:ext cx="975665" cy="2002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i="1">
                <a:solidFill>
                  <a:srgbClr val="E0E0E0">
                    <a:alpha val="50000"/>
                  </a:srgbClr>
                </a:solidFill>
                <a:latin typeface="Poppins"/>
                <a:ea typeface="Poppins"/>
                <a:cs typeface="Poppins"/>
              </a:rPr>
              <a:t>2nd Year</a:t>
            </a:r>
            <a:endParaRPr sz="1100"/>
          </a:p>
        </p:txBody>
      </p:sp>
      <p:sp>
        <p:nvSpPr>
          <p:cNvPr id="59" name="Text 50">
            <a:extLst xmlns:a="http://schemas.openxmlformats.org/drawingml/2006/main">
              <a:ext uri="{FF2B5EF4-FFF2-40B4-BE49-F238E27FC236}">
                <a16:creationId xmlns:a16="http://schemas.microsoft.com/office/drawing/2014/main" id="{621DDD09-C72E-41A0-9884-2190BAFB0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0053" y="3181198"/>
            <a:ext cx="1089965" cy="2002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i="1">
                <a:solidFill>
                  <a:srgbClr val="E0E0E0">
                    <a:alpha val="50000"/>
                  </a:srgbClr>
                </a:solidFill>
                <a:latin typeface="Poppins"/>
                <a:ea typeface="Poppins"/>
                <a:cs typeface="Poppins"/>
              </a:rPr>
              <a:t>Nithilan T</a:t>
            </a:r>
            <a:endParaRPr sz="1100"/>
          </a:p>
        </p:txBody>
      </p:sp>
      <p:sp>
        <p:nvSpPr>
          <p:cNvPr id="60" name="Text 51">
            <a:extLst xmlns:a="http://schemas.openxmlformats.org/drawingml/2006/main">
              <a:ext uri="{FF2B5EF4-FFF2-40B4-BE49-F238E27FC236}">
                <a16:creationId xmlns:a16="http://schemas.microsoft.com/office/drawing/2014/main" id="{1812DC29-1386-4C7C-A92F-5F240C0AE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2033" y="3181198"/>
            <a:ext cx="975665" cy="2002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i="1">
                <a:solidFill>
                  <a:srgbClr val="E0E0E0">
                    <a:alpha val="50000"/>
                  </a:srgbClr>
                </a:solidFill>
                <a:latin typeface="Poppins"/>
                <a:ea typeface="Poppins"/>
                <a:cs typeface="Poppins"/>
              </a:rPr>
              <a:t>3rd Year</a:t>
            </a:r>
            <a:endParaRPr sz="1100"/>
          </a:p>
        </p:txBody>
      </p:sp>
      <p:sp>
        <p:nvSpPr>
          <p:cNvPr id="61" name="Text 52">
            <a:extLst xmlns:a="http://schemas.openxmlformats.org/drawingml/2006/main">
              <a:ext uri="{FF2B5EF4-FFF2-40B4-BE49-F238E27FC236}">
                <a16:creationId xmlns:a16="http://schemas.microsoft.com/office/drawing/2014/main" id="{D879AE37-02C6-4105-BA6A-BB674DD41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0053" y="3636569"/>
            <a:ext cx="1089965" cy="2002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i="1">
                <a:solidFill>
                  <a:srgbClr val="E0E0E0">
                    <a:alpha val="50000"/>
                  </a:srgbClr>
                </a:solidFill>
                <a:latin typeface="Poppins"/>
                <a:ea typeface="Poppins"/>
                <a:cs typeface="Poppins"/>
              </a:rPr>
              <a:t>[ADD / REMOVE]</a:t>
            </a:r>
            <a:endParaRPr sz="1100"/>
          </a:p>
        </p:txBody>
      </p:sp>
      <p:sp>
        <p:nvSpPr>
          <p:cNvPr id="62" name="Text 53">
            <a:extLst xmlns:a="http://schemas.openxmlformats.org/drawingml/2006/main">
              <a:ext uri="{FF2B5EF4-FFF2-40B4-BE49-F238E27FC236}">
                <a16:creationId xmlns:a16="http://schemas.microsoft.com/office/drawing/2014/main" id="{14D050C7-F378-48A7-94A3-80E804B99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2033" y="3636569"/>
            <a:ext cx="975665" cy="2002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i="1">
                <a:solidFill>
                  <a:srgbClr val="E0E0E0">
                    <a:alpha val="50000"/>
                  </a:srgbClr>
                </a:solidFill>
                <a:latin typeface="Poppins"/>
                <a:ea typeface="Poppins"/>
                <a:cs typeface="Poppins"/>
              </a:rPr>
              <a:t>[ADD YEAR]</a:t>
            </a:r>
            <a:endParaRPr sz="1100"/>
          </a:p>
        </p:txBody>
      </p:sp>
      <p:sp>
        <p:nvSpPr>
          <p:cNvPr id="63" name="Text 54">
            <a:extLst xmlns:a="http://schemas.openxmlformats.org/drawingml/2006/main">
              <a:ext uri="{FF2B5EF4-FFF2-40B4-BE49-F238E27FC236}">
                <a16:creationId xmlns:a16="http://schemas.microsoft.com/office/drawing/2014/main" id="{D251A6F0-B582-47D6-9D68-221E11B4C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" y="5152644"/>
            <a:ext cx="20574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FFFFFF">
                    <a:alpha val="50000"/>
                  </a:srgbClr>
                </a:solidFill>
                <a:latin typeface="Poppins"/>
                <a:ea typeface="Poppins"/>
                <a:cs typeface="Poppins"/>
              </a:rPr>
              <a:t>Chennai Institute of Technology</a:t>
            </a:r>
            <a:endParaRPr sz="1200"/>
          </a:p>
        </p:txBody>
      </p:sp>
      <p:sp>
        <p:nvSpPr>
          <p:cNvPr id="64" name="Text 55">
            <a:extLst xmlns:a="http://schemas.openxmlformats.org/drawingml/2006/main">
              <a:ext uri="{FF2B5EF4-FFF2-40B4-BE49-F238E27FC236}">
                <a16:creationId xmlns:a16="http://schemas.microsoft.com/office/drawing/2014/main" id="{69BA62BC-145A-4919-BFA7-84DB08945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" y="6038698"/>
            <a:ext cx="1534363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FFFFFF">
                    <a:alpha val="50000"/>
                  </a:srgbClr>
                </a:solidFill>
                <a:latin typeface="Poppins"/>
                <a:ea typeface="Poppins"/>
                <a:cs typeface="Poppins"/>
              </a:rPr>
              <a:t>9600039825</a:t>
            </a:r>
            <a:endParaRPr sz="1200"/>
          </a:p>
        </p:txBody>
      </p:sp>
      <p:sp>
        <p:nvSpPr>
          <p:cNvPr id="65" name="Text 56">
            <a:extLst xmlns:a="http://schemas.openxmlformats.org/drawingml/2006/main">
              <a:ext uri="{FF2B5EF4-FFF2-40B4-BE49-F238E27FC236}">
                <a16:creationId xmlns:a16="http://schemas.microsoft.com/office/drawing/2014/main" id="{F605381E-ED99-4860-A256-56764A212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4107" y="6038698"/>
            <a:ext cx="1886407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FFFFFF">
                    <a:alpha val="50000"/>
                  </a:srgbClr>
                </a:solidFill>
                <a:latin typeface="Poppins"/>
                <a:ea typeface="Poppins"/>
                <a:cs typeface="Poppins"/>
              </a:rPr>
              <a:t>r.vikaash301@gmail.com</a:t>
            </a:r>
            <a:endParaRPr sz="1200"/>
          </a:p>
        </p:txBody>
      </p:sp>
      <p:sp>
        <p:nvSpPr>
          <p:cNvPr id="70" name="Shape 1">
            <a:extLst xmlns:a="http://schemas.openxmlformats.org/drawingml/2006/main">
              <a:ext uri="{FF2B5EF4-FFF2-40B4-BE49-F238E27FC236}">
                <a16:creationId xmlns:a16="http://schemas.microsoft.com/office/drawing/2014/main" id="{780937B3-EB04-4CBA-C636-AF115BC1E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" y="138074"/>
            <a:ext cx="11048695" cy="857707"/>
          </a:xfrm>
          <a:prstGeom xmlns:a="http://schemas.openxmlformats.org/drawingml/2006/main" prst="roundRect">
            <a:avLst>
              <a:gd name="adj" fmla="val 9476"/>
            </a:avLst>
          </a:prstGeom>
          <a:solidFill xmlns:a="http://schemas.openxmlformats.org/drawingml/2006/main">
            <a:srgbClr val="FFFFFF">
              <a:alpha val="95000"/>
            </a:srgbClr>
          </a:solidFill>
          <a:effectLst xmlns:a="http://schemas.openxmlformats.org/drawingml/2006/main"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9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5faf94229446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04957" y="273709"/>
            <a:ext cx="9163491" cy="58643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99686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B9E467F-C87D-456B-9940-305C49244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3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918757ae004f62">
            <a:alphaModFix amt="10000"/>
          </a:blip>
          <a:srcRect xmlns:a="http://schemas.openxmlformats.org/drawingml/2006/main" l="12327" t="0" r="12327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Shape 2">
            <a:extLst xmlns:a="http://schemas.openxmlformats.org/drawingml/2006/main">
              <a:ext uri="{FF2B5EF4-FFF2-40B4-BE49-F238E27FC236}">
                <a16:creationId xmlns:a16="http://schemas.microsoft.com/office/drawing/2014/main" id="{A9739CEE-4A6A-4FBC-927E-2FBFD3274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195"/>
            <a:ext cx="75895" cy="40965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E55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3">
            <a:extLst xmlns:a="http://schemas.openxmlformats.org/drawingml/2006/main">
              <a:ext uri="{FF2B5EF4-FFF2-40B4-BE49-F238E27FC236}">
                <a16:creationId xmlns:a16="http://schemas.microsoft.com/office/drawing/2014/main" id="{B03BA842-FA59-44AE-B429-CC4ACC26F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05" y="1295705"/>
            <a:ext cx="5547665" cy="4672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6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Problem Statement Addressed</a:t>
            </a:r>
            <a:endParaRPr sz="2600"/>
          </a:p>
        </p:txBody>
      </p:sp>
      <p:sp>
        <p:nvSpPr>
          <p:cNvPr id="9" name="Shape 4">
            <a:extLst xmlns:a="http://schemas.openxmlformats.org/drawingml/2006/main">
              <a:ext uri="{FF2B5EF4-FFF2-40B4-BE49-F238E27FC236}">
                <a16:creationId xmlns:a16="http://schemas.microsoft.com/office/drawing/2014/main" id="{C0007D54-298A-4593-AF32-1EBF35E42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21738"/>
            <a:ext cx="11048695" cy="4552798"/>
          </a:xfrm>
          <a:prstGeom xmlns:a="http://schemas.openxmlformats.org/drawingml/2006/main" prst="roundRect">
            <a:avLst>
              <a:gd name="adj" fmla="val 672"/>
            </a:avLst>
          </a:prstGeom>
          <a:solidFill xmlns:a="http://schemas.openxmlformats.org/drawingml/2006/main">
            <a:srgbClr val="FFFFFF">
              <a:alpha val="5000"/>
            </a:srgbClr>
          </a:solidFill>
          <a:ln xmlns:a="http://schemas.openxmlformats.org/drawingml/2006/main"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Shape 5">
            <a:extLst xmlns:a="http://schemas.openxmlformats.org/drawingml/2006/main">
              <a:ext uri="{FF2B5EF4-FFF2-40B4-BE49-F238E27FC236}">
                <a16:creationId xmlns:a16="http://schemas.microsoft.com/office/drawing/2014/main" id="{6FD15545-FB8D-4F09-8B06-F5C8CF921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21738"/>
            <a:ext cx="190195" cy="190195"/>
          </a:xfrm>
          <a:prstGeom xmlns:a="http://schemas.openxmlformats.org/drawingml/2006/main" prst="roundRect">
            <a:avLst>
              <a:gd name="adj" fmla="val 192308"/>
            </a:avLst>
          </a:prstGeom>
          <a:noFill xmlns:a="http://schemas.openxmlformats.org/drawingml/2006/main"/>
          <a:ln xmlns:a="http://schemas.openxmlformats.org/drawingml/2006/main" w="38100">
            <a:solidFill>
              <a:srgbClr val="88E5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6">
            <a:extLst xmlns:a="http://schemas.openxmlformats.org/drawingml/2006/main">
              <a:ext uri="{FF2B5EF4-FFF2-40B4-BE49-F238E27FC236}">
                <a16:creationId xmlns:a16="http://schemas.microsoft.com/office/drawing/2014/main" id="{3F51FDC9-587D-4C38-BA85-D6D72B46E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021738"/>
            <a:ext cx="190195" cy="190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8E5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hape 7">
            <a:extLst xmlns:a="http://schemas.openxmlformats.org/drawingml/2006/main">
              <a:ext uri="{FF2B5EF4-FFF2-40B4-BE49-F238E27FC236}">
                <a16:creationId xmlns:a16="http://schemas.microsoft.com/office/drawing/2014/main" id="{471A7452-5DCF-4CA2-A6FE-B699A3737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81598"/>
            <a:ext cx="190195" cy="190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8E5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Shape 8">
            <a:extLst xmlns:a="http://schemas.openxmlformats.org/drawingml/2006/main">
              <a:ext uri="{FF2B5EF4-FFF2-40B4-BE49-F238E27FC236}">
                <a16:creationId xmlns:a16="http://schemas.microsoft.com/office/drawing/2014/main" id="{4B037D8C-2B9B-4DD2-8B20-804F0B08A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381598"/>
            <a:ext cx="190195" cy="190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8E5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hape 9">
            <a:extLst xmlns:a="http://schemas.openxmlformats.org/drawingml/2006/main">
              <a:ext uri="{FF2B5EF4-FFF2-40B4-BE49-F238E27FC236}">
                <a16:creationId xmlns:a16="http://schemas.microsoft.com/office/drawing/2014/main" id="{039DAC75-D7BE-4C27-87DC-A7C3187D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9" y="2412187"/>
            <a:ext cx="571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3383">
              <a:alpha val="50000"/>
            </a:srgbClr>
          </a:solidFill>
          <a:ln xmlns:a="http://schemas.openxmlformats.org/drawingml/2006/main" w="25400">
            <a:solidFill>
              <a:srgbClr val="AEFF8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37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b03b77d56645b1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133856" y="258318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16" name="Text 10">
            <a:extLst xmlns:a="http://schemas.openxmlformats.org/drawingml/2006/main">
              <a:ext uri="{FF2B5EF4-FFF2-40B4-BE49-F238E27FC236}">
                <a16:creationId xmlns:a16="http://schemas.microsoft.com/office/drawing/2014/main" id="{209466C3-339E-44CB-9113-DCE84C4CE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9" y="3193085"/>
            <a:ext cx="6277356" cy="3145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AEFF82">
                    <a:alpha val="80000"/>
                  </a:srgbClr>
                </a:solidFill>
                <a:latin typeface="Poppins"/>
                <a:ea typeface="Poppins"/>
                <a:cs typeface="Poppins"/>
              </a:rPr>
              <a:t>PS01 | Joint denoising + 2x grayscale super-resolution</a:t>
            </a:r>
            <a:endParaRPr sz="1800"/>
          </a:p>
        </p:txBody>
      </p:sp>
      <p:sp>
        <p:nvSpPr>
          <p:cNvPr id="17" name="Shape 11">
            <a:extLst xmlns:a="http://schemas.openxmlformats.org/drawingml/2006/main">
              <a:ext uri="{FF2B5EF4-FFF2-40B4-BE49-F238E27FC236}">
                <a16:creationId xmlns:a16="http://schemas.microsoft.com/office/drawing/2014/main" id="{F84CDDF0-5F53-4578-A720-AE1C60208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9" y="3768242"/>
            <a:ext cx="10267798" cy="1276502"/>
          </a:xfrm>
          <a:prstGeom xmlns:a="http://schemas.openxmlformats.org/drawingml/2006/main" prst="roundRect">
            <a:avLst>
              <a:gd name="adj" fmla="val 4277"/>
            </a:avLst>
          </a:prstGeom>
          <a:solidFill xmlns:a="http://schemas.openxmlformats.org/drawingml/2006/main">
            <a:srgbClr val="1E3A8A">
              <a:alpha val="40000"/>
            </a:srgbClr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8D09EE3A-1C1C-438C-BEFF-9BDC6705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607" y="4006901"/>
            <a:ext cx="1690726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9CA3AF"/>
                </a:solidFill>
                <a:latin typeface="Poppins"/>
                <a:ea typeface="Poppins"/>
                <a:cs typeface="Poppins"/>
              </a:rPr>
              <a:t>WHY THIS MATTERS</a:t>
            </a:r>
            <a:endParaRPr sz="1000"/>
          </a:p>
        </p:txBody>
      </p:sp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E3934147-8D93-443B-AF07-80557EB87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607" y="4283050"/>
            <a:ext cx="8968435" cy="505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i="1">
                <a:solidFill>
                  <a:srgbClr val="FFFFFF">
                    <a:alpha val="70000"/>
                  </a:srgbClr>
                </a:solidFill>
                <a:latin typeface="Poppins"/>
                <a:ea typeface="Poppins"/>
                <a:cs typeface="Poppins"/>
              </a:rPr>
              <a:t>Restore 128x128 noisy inputs to faithful 256x256 outputs. Preserve real edges and rare structures while suppressing speckle and Gaussian noise; hidden sources test generalization and speed.</a:t>
            </a:r>
            <a:endParaRPr sz="1300"/>
          </a:p>
        </p:txBody>
      </p:sp>
      <p:pic>
        <p:nvPicPr>
          <p:cNvPr id="42" name="Picture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47218d3c294f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92164" y="228650"/>
            <a:ext cx="1607366" cy="783591"/>
          </a:xfrm>
          <a:prstGeom xmlns:a="http://schemas.openxmlformats.org/drawingml/2006/main" prst="rect">
            <a:avLst/>
          </a:prstGeom>
        </p:spPr>
      </p:pic>
      <p:sp>
        <p:nvSpPr>
          <p:cNvPr id="22" name="Shape 1">
            <a:extLst xmlns:a="http://schemas.openxmlformats.org/drawingml/2006/main">
              <a:ext uri="{FF2B5EF4-FFF2-40B4-BE49-F238E27FC236}">
                <a16:creationId xmlns:a16="http://schemas.microsoft.com/office/drawing/2014/main" id="{8B3789FB-4EC6-29BB-8AB4-B514BCE88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294"/>
            <a:ext cx="11048695" cy="857707"/>
          </a:xfrm>
          <a:prstGeom xmlns:a="http://schemas.openxmlformats.org/drawingml/2006/main" prst="roundRect">
            <a:avLst>
              <a:gd name="adj" fmla="val 9476"/>
            </a:avLst>
          </a:prstGeom>
          <a:solidFill xmlns:a="http://schemas.openxmlformats.org/drawingml/2006/main">
            <a:srgbClr val="FFFFFF">
              <a:alpha val="95000"/>
            </a:srgbClr>
          </a:solidFill>
          <a:effectLst xmlns:a="http://schemas.openxmlformats.org/drawingml/2006/main"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4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d6ea31127645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33449" y="416814"/>
            <a:ext cx="9163491" cy="58643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02843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B6E6FFA-F15C-4137-9B4C-C5C26BCB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3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a1ae349e3c4edd">
            <a:alphaModFix amt="10000"/>
          </a:blip>
          <a:srcRect xmlns:a="http://schemas.openxmlformats.org/drawingml/2006/main" l="12327" t="0" r="12327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A5CD02B2-FA44-4400-85D9-62C0C0514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6207"/>
            <a:ext cx="11048695" cy="666598"/>
          </a:xfrm>
          <a:prstGeom xmlns:a="http://schemas.openxmlformats.org/drawingml/2006/main" prst="roundRect">
            <a:avLst>
              <a:gd name="adj" fmla="val 15677"/>
            </a:avLst>
          </a:prstGeom>
          <a:solidFill xmlns:a="http://schemas.openxmlformats.org/drawingml/2006/main">
            <a:srgbClr val="FFFFFF">
              <a:alpha val="95000"/>
            </a:srgbClr>
          </a:solidFill>
          <a:effectLst xmlns:a="http://schemas.openxmlformats.org/drawingml/2006/main"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3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f5283b14ae485f"/>
          <a:srcRect xmlns:a="http://schemas.openxmlformats.org/drawingml/2006/main" l="0" t="10" r="0" b="10"/>
          <a:stretch xmlns:a="http://schemas.openxmlformats.org/drawingml/2006/main"/>
        </p:blipFill>
        <p:spPr>
          <a:xfrm xmlns:a="http://schemas.openxmlformats.org/drawingml/2006/main">
            <a:off x="857707" y="381305"/>
            <a:ext cx="1266444" cy="476402"/>
          </a:xfrm>
          <a:prstGeom xmlns:a="http://schemas.openxmlformats.org/drawingml/2006/main" prst="rect">
            <a:avLst/>
          </a:prstGeom>
        </p:spPr>
      </p:pic>
      <p:pic>
        <p:nvPicPr>
          <p:cNvPr id="36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4ec9f8017c4c9f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58500" y="381305"/>
            <a:ext cx="476402" cy="476402"/>
          </a:xfrm>
          <a:prstGeom xmlns:a="http://schemas.openxmlformats.org/drawingml/2006/main" prst="rect">
            <a:avLst/>
          </a:prstGeom>
        </p:spPr>
      </p:pic>
      <p:sp>
        <p:nvSpPr>
          <p:cNvPr id="7" name="Shape 2">
            <a:extLst xmlns:a="http://schemas.openxmlformats.org/drawingml/2006/main">
              <a:ext uri="{FF2B5EF4-FFF2-40B4-BE49-F238E27FC236}">
                <a16:creationId xmlns:a16="http://schemas.microsoft.com/office/drawing/2014/main" id="{F3EC61EF-796F-4022-84B4-167DDA26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195"/>
            <a:ext cx="75895" cy="40965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E55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3">
            <a:extLst xmlns:a="http://schemas.openxmlformats.org/drawingml/2006/main">
              <a:ext uri="{FF2B5EF4-FFF2-40B4-BE49-F238E27FC236}">
                <a16:creationId xmlns:a16="http://schemas.microsoft.com/office/drawing/2014/main" id="{9672DE82-FE61-473C-830C-C3C4F91C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04" y="1295705"/>
            <a:ext cx="10682936" cy="4672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Idea Description - EdgeRestore-LK</a:t>
            </a:r>
            <a:endParaRPr sz="2600">
              <a:latin typeface="Poppins"/>
              <a:ea typeface="Poppins"/>
              <a:cs typeface="Poppins"/>
            </a:endParaRPr>
          </a:p>
        </p:txBody>
      </p:sp>
      <p:sp>
        <p:nvSpPr>
          <p:cNvPr id="9" name="Shape 4">
            <a:extLst xmlns:a="http://schemas.openxmlformats.org/drawingml/2006/main">
              <a:ext uri="{FF2B5EF4-FFF2-40B4-BE49-F238E27FC236}">
                <a16:creationId xmlns:a16="http://schemas.microsoft.com/office/drawing/2014/main" id="{5EA6CF28-6534-4F57-99B7-6298CE664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21738"/>
            <a:ext cx="11048695" cy="4552798"/>
          </a:xfrm>
          <a:prstGeom xmlns:a="http://schemas.openxmlformats.org/drawingml/2006/main" prst="roundRect">
            <a:avLst>
              <a:gd name="adj" fmla="val 672"/>
            </a:avLst>
          </a:prstGeom>
          <a:solidFill xmlns:a="http://schemas.openxmlformats.org/drawingml/2006/main">
            <a:srgbClr val="FFFFFF">
              <a:alpha val="5000"/>
            </a:srgbClr>
          </a:solidFill>
          <a:ln xmlns:a="http://schemas.openxmlformats.org/drawingml/2006/main"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Shape 5">
            <a:extLst xmlns:a="http://schemas.openxmlformats.org/drawingml/2006/main">
              <a:ext uri="{FF2B5EF4-FFF2-40B4-BE49-F238E27FC236}">
                <a16:creationId xmlns:a16="http://schemas.microsoft.com/office/drawing/2014/main" id="{FA7D4BB5-6884-4D1B-AB55-08DC0B0D6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21738"/>
            <a:ext cx="190195" cy="190195"/>
          </a:xfrm>
          <a:prstGeom xmlns:a="http://schemas.openxmlformats.org/drawingml/2006/main" prst="roundRect">
            <a:avLst>
              <a:gd name="adj" fmla="val 192308"/>
            </a:avLst>
          </a:prstGeom>
          <a:noFill xmlns:a="http://schemas.openxmlformats.org/drawingml/2006/main"/>
          <a:ln xmlns:a="http://schemas.openxmlformats.org/drawingml/2006/main" w="38100">
            <a:solidFill>
              <a:srgbClr val="88E5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6">
            <a:extLst xmlns:a="http://schemas.openxmlformats.org/drawingml/2006/main">
              <a:ext uri="{FF2B5EF4-FFF2-40B4-BE49-F238E27FC236}">
                <a16:creationId xmlns:a16="http://schemas.microsoft.com/office/drawing/2014/main" id="{3A7C169A-2D07-4417-896E-F2548C28A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021738"/>
            <a:ext cx="190195" cy="190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8E5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hape 7">
            <a:extLst xmlns:a="http://schemas.openxmlformats.org/drawingml/2006/main">
              <a:ext uri="{FF2B5EF4-FFF2-40B4-BE49-F238E27FC236}">
                <a16:creationId xmlns:a16="http://schemas.microsoft.com/office/drawing/2014/main" id="{2E168FA1-B207-4BDE-AEB7-18325DF19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81598"/>
            <a:ext cx="190195" cy="190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8E5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Shape 8">
            <a:extLst xmlns:a="http://schemas.openxmlformats.org/drawingml/2006/main">
              <a:ext uri="{FF2B5EF4-FFF2-40B4-BE49-F238E27FC236}">
                <a16:creationId xmlns:a16="http://schemas.microsoft.com/office/drawing/2014/main" id="{B3A1D3A1-572E-417A-A0CE-B86D26B74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381598"/>
            <a:ext cx="190195" cy="190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8E5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hape 9">
            <a:extLst xmlns:a="http://schemas.openxmlformats.org/drawingml/2006/main">
              <a:ext uri="{FF2B5EF4-FFF2-40B4-BE49-F238E27FC236}">
                <a16:creationId xmlns:a16="http://schemas.microsoft.com/office/drawing/2014/main" id="{858354E5-F2F8-4AD2-8A5F-B8E391FB0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9" y="2412187"/>
            <a:ext cx="571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3383">
              <a:alpha val="50000"/>
            </a:srgbClr>
          </a:solidFill>
          <a:ln xmlns:a="http://schemas.openxmlformats.org/drawingml/2006/main" w="25400">
            <a:solidFill>
              <a:srgbClr val="AEFF8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029cb35e94431f"/>
          <a:srcRect xmlns:a="http://schemas.openxmlformats.org/drawingml/2006/main" l="-133" t="0" r="-133" b="0"/>
          <a:stretch xmlns:a="http://schemas.openxmlformats.org/drawingml/2006/main"/>
        </p:blipFill>
        <p:spPr>
          <a:xfrm xmlns:a="http://schemas.openxmlformats.org/drawingml/2006/main">
            <a:off x="1162202" y="2583180"/>
            <a:ext cx="171907" cy="228600"/>
          </a:xfrm>
          <a:prstGeom xmlns:a="http://schemas.openxmlformats.org/drawingml/2006/main" prst="rect">
            <a:avLst/>
          </a:prstGeom>
        </p:spPr>
      </p:pic>
      <p:sp>
        <p:nvSpPr>
          <p:cNvPr id="16" name="Text 10">
            <a:extLst xmlns:a="http://schemas.openxmlformats.org/drawingml/2006/main">
              <a:ext uri="{FF2B5EF4-FFF2-40B4-BE49-F238E27FC236}">
                <a16:creationId xmlns:a16="http://schemas.microsoft.com/office/drawing/2014/main" id="{90FAE69A-4374-498A-AAFD-28422DB66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9" y="3183941"/>
            <a:ext cx="9813341" cy="6291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AEFF82">
                    <a:alpha val="90000"/>
                  </a:srgbClr>
                </a:solidFill>
                <a:latin typeface="Poppins"/>
                <a:ea typeface="Poppins"/>
                <a:cs typeface="Poppins"/>
              </a:rPr>
              <a:t>One deterministic model handles compound noise and 2x upscaling while prioritizing faithful structure over visually plausible hallucination.</a:t>
            </a:r>
            <a:endParaRPr sz="1600"/>
          </a:p>
        </p:txBody>
      </p:sp>
      <p:sp>
        <p:nvSpPr>
          <p:cNvPr id="17" name="Shape 11">
            <a:extLst xmlns:a="http://schemas.openxmlformats.org/drawingml/2006/main">
              <a:ext uri="{FF2B5EF4-FFF2-40B4-BE49-F238E27FC236}">
                <a16:creationId xmlns:a16="http://schemas.microsoft.com/office/drawing/2014/main" id="{5F1382E0-AB19-4BBB-A465-D726C7644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9" y="4060850"/>
            <a:ext cx="10267798" cy="895198"/>
          </a:xfrm>
          <a:prstGeom xmlns:a="http://schemas.openxmlformats.org/drawingml/2006/main" prst="roundRect">
            <a:avLst>
              <a:gd name="adj" fmla="val 8693"/>
            </a:avLst>
          </a:prstGeom>
          <a:solidFill xmlns:a="http://schemas.openxmlformats.org/drawingml/2006/main">
            <a:srgbClr val="1E3A8A">
              <a:alpha val="40000"/>
            </a:srgbClr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A91D6C38-32BF-4179-9990-F49C1D92B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202" y="4261104"/>
            <a:ext cx="1996135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9CA3AF"/>
                </a:solidFill>
                <a:latin typeface="Poppins"/>
                <a:ea typeface="Poppins"/>
                <a:cs typeface="Poppins"/>
              </a:rPr>
              <a:t>KEY CONCEPT &amp; APPROACH</a:t>
            </a:r>
            <a:endParaRPr sz="1000"/>
          </a:p>
        </p:txBody>
      </p:sp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6983380B-7EFB-43E4-92AA-1DA23AB2A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202" y="4528109"/>
            <a:ext cx="767730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i="1">
                <a:solidFill>
                  <a:srgbClr val="FFFFFF">
                    <a:alpha val="70000"/>
                  </a:srgbClr>
                </a:solidFill>
                <a:latin typeface="Poppins"/>
                <a:ea typeface="Poppins"/>
                <a:cs typeface="Poppins"/>
              </a:rPr>
              <a:t>6 residual groups x 6 residual channel-attention blocks (96 channels), zero-initialised head so the untrained network is exact bicubic.</a:t>
            </a:r>
            <a:endParaRPr sz="1200"/>
          </a:p>
        </p:txBody>
      </p:sp>
      <p:sp>
        <p:nvSpPr>
          <p:cNvPr id="20" name="Shape 14">
            <a:extLst xmlns:a="http://schemas.openxmlformats.org/drawingml/2006/main">
              <a:ext uri="{FF2B5EF4-FFF2-40B4-BE49-F238E27FC236}">
                <a16:creationId xmlns:a16="http://schemas.microsoft.com/office/drawing/2014/main" id="{69BBBD5C-0102-452A-81C8-529A6D91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9" y="5108753"/>
            <a:ext cx="10267798" cy="895198"/>
          </a:xfrm>
          <a:prstGeom xmlns:a="http://schemas.openxmlformats.org/drawingml/2006/main" prst="roundRect">
            <a:avLst>
              <a:gd name="adj" fmla="val 8693"/>
            </a:avLst>
          </a:prstGeom>
          <a:solidFill xmlns:a="http://schemas.openxmlformats.org/drawingml/2006/main">
            <a:srgbClr val="1E3A8A">
              <a:alpha val="40000"/>
            </a:srgbClr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Text 15">
            <a:extLst xmlns:a="http://schemas.openxmlformats.org/drawingml/2006/main">
              <a:ext uri="{FF2B5EF4-FFF2-40B4-BE49-F238E27FC236}">
                <a16:creationId xmlns:a16="http://schemas.microsoft.com/office/drawing/2014/main" id="{9B446780-4E1B-49AD-B1EE-40C244FA1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202" y="5309006"/>
            <a:ext cx="1548079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9CA3AF"/>
                </a:solidFill>
                <a:latin typeface="Poppins"/>
                <a:ea typeface="Poppins"/>
                <a:cs typeface="Poppins"/>
              </a:rPr>
              <a:t>SOLUTION OVERVIEW</a:t>
            </a:r>
            <a:endParaRPr sz="1000"/>
          </a:p>
        </p:txBody>
      </p:sp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13C6F15B-8AD8-4EE6-AE18-D224272B5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202" y="5575097"/>
            <a:ext cx="84582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i="1">
                <a:solidFill>
                  <a:srgbClr val="FFFFFF">
                    <a:alpha val="70000"/>
                  </a:srgbClr>
                </a:solidFill>
                <a:latin typeface="Poppins"/>
                <a:ea typeface="Poppins"/>
                <a:cs typeface="Poppins"/>
              </a:rPr>
              <a:t>PixelShuffle restores 2x detail; a bicubic skip anchors fidelity. Challenge-range outliers are retained.</a:t>
            </a:r>
            <a:endParaRPr sz="1200"/>
          </a:p>
        </p:txBody>
      </p:sp>
      <p:pic>
        <p:nvPicPr>
          <p:cNvPr id="53" name="Picture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cc152659f343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92164" y="228650"/>
            <a:ext cx="1607366" cy="783591"/>
          </a:xfrm>
          <a:prstGeom xmlns:a="http://schemas.openxmlformats.org/drawingml/2006/main" prst="rect">
            <a:avLst/>
          </a:prstGeom>
        </p:spPr>
      </p:pic>
      <p:sp>
        <p:nvSpPr>
          <p:cNvPr id="25" name="Shape 1">
            <a:extLst xmlns:a="http://schemas.openxmlformats.org/drawingml/2006/main">
              <a:ext uri="{FF2B5EF4-FFF2-40B4-BE49-F238E27FC236}">
                <a16:creationId xmlns:a16="http://schemas.microsoft.com/office/drawing/2014/main" id="{82B7216B-04F1-E2CC-935F-9AA2CE5B9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602"/>
            <a:ext cx="11048695" cy="857707"/>
          </a:xfrm>
          <a:prstGeom xmlns:a="http://schemas.openxmlformats.org/drawingml/2006/main" prst="roundRect">
            <a:avLst>
              <a:gd name="adj" fmla="val 9476"/>
            </a:avLst>
          </a:prstGeom>
          <a:solidFill xmlns:a="http://schemas.openxmlformats.org/drawingml/2006/main">
            <a:srgbClr val="FFFFFF">
              <a:alpha val="95000"/>
            </a:srgbClr>
          </a:solidFill>
          <a:effectLst xmlns:a="http://schemas.openxmlformats.org/drawingml/2006/main"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55" name="Picture 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719005d2fc47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01375" y="329389"/>
            <a:ext cx="9163491" cy="58643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51896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6AFF591-9D1D-4AD3-9D21-CDD01BA65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3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745ef35c504e16">
            <a:alphaModFix amt="10000"/>
          </a:blip>
          <a:srcRect xmlns:a="http://schemas.openxmlformats.org/drawingml/2006/main" l="12327" t="0" r="12327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43E4AC97-B4B3-4191-BEAA-98ACA3614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6207"/>
            <a:ext cx="11048695" cy="666598"/>
          </a:xfrm>
          <a:prstGeom xmlns:a="http://schemas.openxmlformats.org/drawingml/2006/main" prst="roundRect">
            <a:avLst>
              <a:gd name="adj" fmla="val 15677"/>
            </a:avLst>
          </a:prstGeom>
          <a:solidFill xmlns:a="http://schemas.openxmlformats.org/drawingml/2006/main">
            <a:srgbClr val="FFFFFF">
              <a:alpha val="95000"/>
            </a:srgbClr>
          </a:solidFill>
          <a:effectLst xmlns:a="http://schemas.openxmlformats.org/drawingml/2006/main"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3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fefd5c31f04031"/>
          <a:srcRect xmlns:a="http://schemas.openxmlformats.org/drawingml/2006/main" l="0" t="10" r="0" b="10"/>
          <a:stretch xmlns:a="http://schemas.openxmlformats.org/drawingml/2006/main"/>
        </p:blipFill>
        <p:spPr>
          <a:xfrm xmlns:a="http://schemas.openxmlformats.org/drawingml/2006/main">
            <a:off x="857707" y="381305"/>
            <a:ext cx="1266444" cy="476402"/>
          </a:xfrm>
          <a:prstGeom xmlns:a="http://schemas.openxmlformats.org/drawingml/2006/main" prst="rect">
            <a:avLst/>
          </a:prstGeom>
        </p:spPr>
      </p:pic>
      <p:pic>
        <p:nvPicPr>
          <p:cNvPr id="33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bbf0dbb59e44ad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58500" y="381305"/>
            <a:ext cx="476402" cy="476402"/>
          </a:xfrm>
          <a:prstGeom xmlns:a="http://schemas.openxmlformats.org/drawingml/2006/main" prst="rect">
            <a:avLst/>
          </a:prstGeom>
        </p:spPr>
      </p:pic>
      <p:sp>
        <p:nvSpPr>
          <p:cNvPr id="7" name="Shape 2">
            <a:extLst xmlns:a="http://schemas.openxmlformats.org/drawingml/2006/main">
              <a:ext uri="{FF2B5EF4-FFF2-40B4-BE49-F238E27FC236}">
                <a16:creationId xmlns:a16="http://schemas.microsoft.com/office/drawing/2014/main" id="{3FE08763-6B9E-405E-859F-2D2962CE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195"/>
            <a:ext cx="75895" cy="40965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E55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3">
            <a:extLst xmlns:a="http://schemas.openxmlformats.org/drawingml/2006/main">
              <a:ext uri="{FF2B5EF4-FFF2-40B4-BE49-F238E27FC236}">
                <a16:creationId xmlns:a16="http://schemas.microsoft.com/office/drawing/2014/main" id="{5766375F-F378-42AA-9871-0830662F0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05" y="1295705"/>
            <a:ext cx="10296144" cy="4672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Proposed Solution - Model and Training</a:t>
            </a:r>
            <a:endParaRPr sz="2600"/>
          </a:p>
        </p:txBody>
      </p:sp>
      <p:sp>
        <p:nvSpPr>
          <p:cNvPr id="9" name="Shape 4">
            <a:extLst xmlns:a="http://schemas.openxmlformats.org/drawingml/2006/main">
              <a:ext uri="{FF2B5EF4-FFF2-40B4-BE49-F238E27FC236}">
                <a16:creationId xmlns:a16="http://schemas.microsoft.com/office/drawing/2014/main" id="{1F347CF0-A263-4FFC-BC67-671739B83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21738"/>
            <a:ext cx="11048695" cy="4552798"/>
          </a:xfrm>
          <a:prstGeom xmlns:a="http://schemas.openxmlformats.org/drawingml/2006/main" prst="roundRect">
            <a:avLst>
              <a:gd name="adj" fmla="val 672"/>
            </a:avLst>
          </a:prstGeom>
          <a:solidFill xmlns:a="http://schemas.openxmlformats.org/drawingml/2006/main">
            <a:srgbClr val="FFFFFF">
              <a:alpha val="5000"/>
            </a:srgbClr>
          </a:solidFill>
          <a:ln xmlns:a="http://schemas.openxmlformats.org/drawingml/2006/main"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Shape 5">
            <a:extLst xmlns:a="http://schemas.openxmlformats.org/drawingml/2006/main">
              <a:ext uri="{FF2B5EF4-FFF2-40B4-BE49-F238E27FC236}">
                <a16:creationId xmlns:a16="http://schemas.microsoft.com/office/drawing/2014/main" id="{E1F0470B-AD42-48DB-B0A6-59CE0D608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21738"/>
            <a:ext cx="190195" cy="190195"/>
          </a:xfrm>
          <a:prstGeom xmlns:a="http://schemas.openxmlformats.org/drawingml/2006/main" prst="roundRect">
            <a:avLst>
              <a:gd name="adj" fmla="val 192308"/>
            </a:avLst>
          </a:prstGeom>
          <a:noFill xmlns:a="http://schemas.openxmlformats.org/drawingml/2006/main"/>
          <a:ln xmlns:a="http://schemas.openxmlformats.org/drawingml/2006/main" w="38100">
            <a:solidFill>
              <a:srgbClr val="88E5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6">
            <a:extLst xmlns:a="http://schemas.openxmlformats.org/drawingml/2006/main">
              <a:ext uri="{FF2B5EF4-FFF2-40B4-BE49-F238E27FC236}">
                <a16:creationId xmlns:a16="http://schemas.microsoft.com/office/drawing/2014/main" id="{69C9FF2D-DBF2-46D3-A5C0-16CE0044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021738"/>
            <a:ext cx="190195" cy="190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8E5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hape 7">
            <a:extLst xmlns:a="http://schemas.openxmlformats.org/drawingml/2006/main">
              <a:ext uri="{FF2B5EF4-FFF2-40B4-BE49-F238E27FC236}">
                <a16:creationId xmlns:a16="http://schemas.microsoft.com/office/drawing/2014/main" id="{52E0828A-1059-49DD-A84E-E4BF73C28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81598"/>
            <a:ext cx="190195" cy="190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8E5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Shape 8">
            <a:extLst xmlns:a="http://schemas.openxmlformats.org/drawingml/2006/main">
              <a:ext uri="{FF2B5EF4-FFF2-40B4-BE49-F238E27FC236}">
                <a16:creationId xmlns:a16="http://schemas.microsoft.com/office/drawing/2014/main" id="{C48E09D8-C8C7-4B38-A784-DF307637D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381598"/>
            <a:ext cx="190195" cy="190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8E5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hape 9">
            <a:extLst xmlns:a="http://schemas.openxmlformats.org/drawingml/2006/main">
              <a:ext uri="{FF2B5EF4-FFF2-40B4-BE49-F238E27FC236}">
                <a16:creationId xmlns:a16="http://schemas.microsoft.com/office/drawing/2014/main" id="{41692DA2-B39F-45AD-AAD8-DAA897AC0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9" y="2412187"/>
            <a:ext cx="571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3383">
              <a:alpha val="50000"/>
            </a:srgbClr>
          </a:solidFill>
          <a:ln xmlns:a="http://schemas.openxmlformats.org/drawingml/2006/main" w="25400">
            <a:solidFill>
              <a:srgbClr val="AEFF8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8f70cfb9614c67"/>
          <a:stretch xmlns:a="http://schemas.openxmlformats.org/drawingml/2006/main"/>
        </p:blipFill>
        <p:spPr>
          <a:xfrm xmlns:a="http://schemas.openxmlformats.org/drawingml/2006/main">
            <a:off x="2189167" y="4143375"/>
            <a:ext cx="7928919" cy="2095500"/>
          </a:xfrm>
          <a:prstGeom xmlns:a="http://schemas.openxmlformats.org/drawingml/2006/main" prst="rect">
            <a:avLst/>
          </a:prstGeom>
        </p:spPr>
      </p:pic>
      <p:sp>
        <p:nvSpPr>
          <p:cNvPr id="16" name="Text 10">
            <a:extLst xmlns:a="http://schemas.openxmlformats.org/drawingml/2006/main">
              <a:ext uri="{FF2B5EF4-FFF2-40B4-BE49-F238E27FC236}">
                <a16:creationId xmlns:a16="http://schemas.microsoft.com/office/drawing/2014/main" id="{B5F831FD-DB67-4531-AF12-F99315BEE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9" y="3193085"/>
            <a:ext cx="101727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AEFF82">
                    <a:alpha val="80000"/>
                  </a:srgbClr>
                </a:solidFill>
                <a:latin typeface="Poppins"/>
                <a:ea typeface="Poppins"/>
                <a:cs typeface="Poppins"/>
              </a:rPr>
              <a:t>LR -&gt; 6x[6 RCAB] channel-attention groups (96ch) -&gt; PixelShuffle -&gt; + bicubic. Charbonnier + FFT-L1 training selects EMA iter 22000 by held-out validation PSNR.</a:t>
            </a:r>
            <a:endParaRPr sz="1800"/>
          </a:p>
        </p:txBody>
      </p:sp>
      <p:sp>
        <p:nvSpPr>
          <p:cNvPr id="17" name="Shape 11">
            <a:extLst xmlns:a="http://schemas.openxmlformats.org/drawingml/2006/main">
              <a:ext uri="{FF2B5EF4-FFF2-40B4-BE49-F238E27FC236}">
                <a16:creationId xmlns:a16="http://schemas.microsoft.com/office/drawing/2014/main" id="{EC71F992-2151-4AAD-9F76-141054D7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9" y="4134002"/>
            <a:ext cx="10267798" cy="1276502"/>
          </a:xfrm>
          <a:prstGeom xmlns:a="http://schemas.openxmlformats.org/drawingml/2006/main" prst="roundRect">
            <a:avLst>
              <a:gd name="adj" fmla="val 4277"/>
            </a:avLst>
          </a:prstGeom>
          <a:solidFill xmlns:a="http://schemas.openxmlformats.org/drawingml/2006/main">
            <a:srgbClr val="1E3A8A">
              <a:alpha val="40000"/>
            </a:srgbClr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CF53431F-5541-4D3A-A421-3E5BEBF2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626" y="3857625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9CA3AF"/>
                </a:solidFill>
                <a:latin typeface="Poppins"/>
                <a:ea typeface="Poppins"/>
                <a:cs typeface="Poppins"/>
              </a:rPr>
              <a:t>VISUAL PROOF</a:t>
            </a:r>
            <a:endParaRPr sz="1000"/>
          </a:p>
        </p:txBody>
      </p:sp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759F7839-EB26-4B4D-88B4-389CB5DF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857625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i="1">
                <a:solidFill>
                  <a:srgbClr val="FFFFFF">
                    <a:alpha val="70000"/>
                  </a:srgbClr>
                </a:solidFill>
                <a:latin typeface="Poppins"/>
                <a:ea typeface="Poppins"/>
                <a:cs typeface="Poppins"/>
              </a:rPr>
              <a:t>Sample 000960 | PSNR 40.83 dB | SSIM 0.9744 | held-out filename-random split</a:t>
            </a:r>
            <a:endParaRPr sz="1300"/>
          </a:p>
        </p:txBody>
      </p:sp>
      <p:pic>
        <p:nvPicPr>
          <p:cNvPr id="47" name="Picture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db613457664f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92164" y="227710"/>
            <a:ext cx="1607366" cy="783591"/>
          </a:xfrm>
          <a:prstGeom xmlns:a="http://schemas.openxmlformats.org/drawingml/2006/main" prst="rect">
            <a:avLst/>
          </a:prstGeom>
        </p:spPr>
      </p:pic>
      <p:sp>
        <p:nvSpPr>
          <p:cNvPr id="22" name="Shape 1">
            <a:extLst xmlns:a="http://schemas.openxmlformats.org/drawingml/2006/main">
              <a:ext uri="{FF2B5EF4-FFF2-40B4-BE49-F238E27FC236}">
                <a16:creationId xmlns:a16="http://schemas.microsoft.com/office/drawing/2014/main" id="{50164B49-38DE-6195-0A8B-DC6EC6DA2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799"/>
            <a:ext cx="11048695" cy="857707"/>
          </a:xfrm>
          <a:prstGeom xmlns:a="http://schemas.openxmlformats.org/drawingml/2006/main" prst="roundRect">
            <a:avLst>
              <a:gd name="adj" fmla="val 9476"/>
            </a:avLst>
          </a:prstGeom>
          <a:solidFill xmlns:a="http://schemas.openxmlformats.org/drawingml/2006/main">
            <a:srgbClr val="FFFFFF">
              <a:alpha val="95000"/>
            </a:srgbClr>
          </a:solidFill>
          <a:effectLst xmlns:a="http://schemas.openxmlformats.org/drawingml/2006/main"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9" name="Picture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c28a43f96b44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66553" y="276669"/>
            <a:ext cx="9163491" cy="58643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2280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4C30032-A2A8-4FFB-9DCA-889F026D6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3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bc855f69e64cf4">
            <a:alphaModFix amt="10000"/>
          </a:blip>
          <a:srcRect xmlns:a="http://schemas.openxmlformats.org/drawingml/2006/main" l="12327" t="0" r="12327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CCE2120-A92B-4AEA-9415-57BBCCEA4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6207"/>
            <a:ext cx="11048695" cy="666598"/>
          </a:xfrm>
          <a:prstGeom xmlns:a="http://schemas.openxmlformats.org/drawingml/2006/main" prst="roundRect">
            <a:avLst>
              <a:gd name="adj" fmla="val 15677"/>
            </a:avLst>
          </a:prstGeom>
          <a:solidFill xmlns:a="http://schemas.openxmlformats.org/drawingml/2006/main">
            <a:srgbClr val="FFFFFF">
              <a:alpha val="95000"/>
            </a:srgbClr>
          </a:solidFill>
          <a:effectLst xmlns:a="http://schemas.openxmlformats.org/drawingml/2006/main"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3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f14da1464c4b42"/>
          <a:srcRect xmlns:a="http://schemas.openxmlformats.org/drawingml/2006/main" l="0" t="10" r="0" b="10"/>
          <a:stretch xmlns:a="http://schemas.openxmlformats.org/drawingml/2006/main"/>
        </p:blipFill>
        <p:spPr>
          <a:xfrm xmlns:a="http://schemas.openxmlformats.org/drawingml/2006/main">
            <a:off x="857707" y="381305"/>
            <a:ext cx="1266444" cy="476402"/>
          </a:xfrm>
          <a:prstGeom xmlns:a="http://schemas.openxmlformats.org/drawingml/2006/main" prst="rect">
            <a:avLst/>
          </a:prstGeom>
        </p:spPr>
      </p:pic>
      <p:pic>
        <p:nvPicPr>
          <p:cNvPr id="36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14111ba3ba4f35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58500" y="381305"/>
            <a:ext cx="476402" cy="476402"/>
          </a:xfrm>
          <a:prstGeom xmlns:a="http://schemas.openxmlformats.org/drawingml/2006/main" prst="rect">
            <a:avLst/>
          </a:prstGeom>
        </p:spPr>
      </p:pic>
      <p:sp>
        <p:nvSpPr>
          <p:cNvPr id="7" name="Shape 2">
            <a:extLst xmlns:a="http://schemas.openxmlformats.org/drawingml/2006/main">
              <a:ext uri="{FF2B5EF4-FFF2-40B4-BE49-F238E27FC236}">
                <a16:creationId xmlns:a16="http://schemas.microsoft.com/office/drawing/2014/main" id="{DF2ADA34-12A2-4D08-B75E-A99FB0FBB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195"/>
            <a:ext cx="75895" cy="40965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E55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3">
            <a:extLst xmlns:a="http://schemas.openxmlformats.org/drawingml/2006/main">
              <a:ext uri="{FF2B5EF4-FFF2-40B4-BE49-F238E27FC236}">
                <a16:creationId xmlns:a16="http://schemas.microsoft.com/office/drawing/2014/main" id="{C81475E3-83B3-49E1-A2CF-CCDE2C348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05" y="1295705"/>
            <a:ext cx="4986223" cy="4672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6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Innovation and Empirical Advantage</a:t>
            </a:r>
            <a:endParaRPr sz="2600"/>
          </a:p>
        </p:txBody>
      </p:sp>
      <p:sp>
        <p:nvSpPr>
          <p:cNvPr id="9" name="Shape 4">
            <a:extLst xmlns:a="http://schemas.openxmlformats.org/drawingml/2006/main">
              <a:ext uri="{FF2B5EF4-FFF2-40B4-BE49-F238E27FC236}">
                <a16:creationId xmlns:a16="http://schemas.microsoft.com/office/drawing/2014/main" id="{FDD729CA-8169-4404-81E5-BA1EBF199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21738"/>
            <a:ext cx="11048695" cy="4552798"/>
          </a:xfrm>
          <a:prstGeom xmlns:a="http://schemas.openxmlformats.org/drawingml/2006/main" prst="roundRect">
            <a:avLst>
              <a:gd name="adj" fmla="val 672"/>
            </a:avLst>
          </a:prstGeom>
          <a:solidFill xmlns:a="http://schemas.openxmlformats.org/drawingml/2006/main">
            <a:srgbClr val="FFFFFF">
              <a:alpha val="5000"/>
            </a:srgbClr>
          </a:solidFill>
          <a:ln xmlns:a="http://schemas.openxmlformats.org/drawingml/2006/main"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Shape 5">
            <a:extLst xmlns:a="http://schemas.openxmlformats.org/drawingml/2006/main">
              <a:ext uri="{FF2B5EF4-FFF2-40B4-BE49-F238E27FC236}">
                <a16:creationId xmlns:a16="http://schemas.microsoft.com/office/drawing/2014/main" id="{2CFD9CBF-7D94-43C3-BEDE-A7A5545C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21738"/>
            <a:ext cx="190195" cy="190195"/>
          </a:xfrm>
          <a:prstGeom xmlns:a="http://schemas.openxmlformats.org/drawingml/2006/main" prst="roundRect">
            <a:avLst>
              <a:gd name="adj" fmla="val 192308"/>
            </a:avLst>
          </a:prstGeom>
          <a:noFill xmlns:a="http://schemas.openxmlformats.org/drawingml/2006/main"/>
          <a:ln xmlns:a="http://schemas.openxmlformats.org/drawingml/2006/main" w="38100">
            <a:solidFill>
              <a:srgbClr val="88E5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6">
            <a:extLst xmlns:a="http://schemas.openxmlformats.org/drawingml/2006/main">
              <a:ext uri="{FF2B5EF4-FFF2-40B4-BE49-F238E27FC236}">
                <a16:creationId xmlns:a16="http://schemas.microsoft.com/office/drawing/2014/main" id="{BA8D95AD-8D0C-4CEC-88ED-B111CBA9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021738"/>
            <a:ext cx="190195" cy="190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8E5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hape 7">
            <a:extLst xmlns:a="http://schemas.openxmlformats.org/drawingml/2006/main">
              <a:ext uri="{FF2B5EF4-FFF2-40B4-BE49-F238E27FC236}">
                <a16:creationId xmlns:a16="http://schemas.microsoft.com/office/drawing/2014/main" id="{91B7AF90-6C93-4940-9C53-787E5ED27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81598"/>
            <a:ext cx="190195" cy="190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8E5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Shape 8">
            <a:extLst xmlns:a="http://schemas.openxmlformats.org/drawingml/2006/main">
              <a:ext uri="{FF2B5EF4-FFF2-40B4-BE49-F238E27FC236}">
                <a16:creationId xmlns:a16="http://schemas.microsoft.com/office/drawing/2014/main" id="{2D499AF7-0FAB-4733-A995-4C9E01B10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381598"/>
            <a:ext cx="190195" cy="190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8E5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hape 9">
            <a:extLst xmlns:a="http://schemas.openxmlformats.org/drawingml/2006/main">
              <a:ext uri="{FF2B5EF4-FFF2-40B4-BE49-F238E27FC236}">
                <a16:creationId xmlns:a16="http://schemas.microsoft.com/office/drawing/2014/main" id="{AF48AE24-F757-48A8-924E-0105A50CE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9" y="2412187"/>
            <a:ext cx="571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3383">
              <a:alpha val="50000"/>
            </a:srgbClr>
          </a:solidFill>
          <a:ln xmlns:a="http://schemas.openxmlformats.org/drawingml/2006/main" w="25400">
            <a:solidFill>
              <a:srgbClr val="AEFF8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fb0d6aeae04999"/>
          <a:srcRect xmlns:a="http://schemas.openxmlformats.org/drawingml/2006/main" l="-133" t="0" r="-133" b="0"/>
          <a:stretch xmlns:a="http://schemas.openxmlformats.org/drawingml/2006/main"/>
        </p:blipFill>
        <p:spPr>
          <a:xfrm xmlns:a="http://schemas.openxmlformats.org/drawingml/2006/main">
            <a:off x="1162202" y="2583180"/>
            <a:ext cx="171907" cy="228600"/>
          </a:xfrm>
          <a:prstGeom xmlns:a="http://schemas.openxmlformats.org/drawingml/2006/main" prst="rect">
            <a:avLst/>
          </a:prstGeom>
        </p:spPr>
      </p:pic>
      <p:sp>
        <p:nvSpPr>
          <p:cNvPr id="16" name="Text 10">
            <a:extLst xmlns:a="http://schemas.openxmlformats.org/drawingml/2006/main">
              <a:ext uri="{FF2B5EF4-FFF2-40B4-BE49-F238E27FC236}">
                <a16:creationId xmlns:a16="http://schemas.microsoft.com/office/drawing/2014/main" id="{9015E06C-2867-4933-8604-384085A49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9" y="3193085"/>
            <a:ext cx="9801454" cy="3145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AEFF82">
                    <a:alpha val="80000"/>
                  </a:srgbClr>
                </a:solidFill>
                <a:latin typeface="Poppins"/>
                <a:ea typeface="Poppins"/>
                <a:cs typeface="Poppins"/>
              </a:rPr>
              <a:t>A kernel-only controlled ablation improved PSNR, SSIM, and LPIPS; no GAN, diffusion, ensemble, or degradation router was added.</a:t>
            </a:r>
            <a:endParaRPr sz="1800"/>
          </a:p>
        </p:txBody>
      </p:sp>
      <p:sp>
        <p:nvSpPr>
          <p:cNvPr id="17" name="Shape 11">
            <a:extLst xmlns:a="http://schemas.openxmlformats.org/drawingml/2006/main">
              <a:ext uri="{FF2B5EF4-FFF2-40B4-BE49-F238E27FC236}">
                <a16:creationId xmlns:a16="http://schemas.microsoft.com/office/drawing/2014/main" id="{8C40B548-7810-4370-A45F-C15D0A476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9" y="3845052"/>
            <a:ext cx="5020056" cy="1429207"/>
          </a:xfrm>
          <a:prstGeom xmlns:a="http://schemas.openxmlformats.org/drawingml/2006/main" prst="roundRect">
            <a:avLst>
              <a:gd name="adj" fmla="val 3412"/>
            </a:avLst>
          </a:prstGeom>
          <a:solidFill xmlns:a="http://schemas.openxmlformats.org/drawingml/2006/main">
            <a:srgbClr val="1E3A8A">
              <a:alpha val="40000"/>
            </a:srgbClr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66677ED8-8EB3-49F3-874E-C511B9E5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607" y="4082796"/>
            <a:ext cx="127193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9CA3AF"/>
                </a:solidFill>
                <a:latin typeface="Poppins"/>
                <a:ea typeface="Poppins"/>
                <a:cs typeface="Poppins"/>
              </a:rPr>
              <a:t>CONTROLLED 3x3 -&gt; 5x5 ABLATION</a:t>
            </a:r>
            <a:endParaRPr sz="1000"/>
          </a:p>
        </p:txBody>
      </p:sp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F880E284-9A49-43B3-B38C-13B8FB256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607" y="4349801"/>
            <a:ext cx="4429354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i="1">
                <a:solidFill>
                  <a:srgbClr val="FFFFFF">
                    <a:alpha val="70000"/>
                  </a:srgbClr>
                </a:solidFill>
                <a:latin typeface="Poppins"/>
                <a:ea typeface="Poppins"/>
                <a:cs typeface="Poppins"/>
              </a:rPr>
              <a:t>PSNR 27.0756 -&gt; 27.7637
SSIM 0.70638 -&gt; 0.73490
LPIPS 0.36586 -&gt; 0.32771</a:t>
            </a:r>
            <a:endParaRPr sz="1200"/>
          </a:p>
        </p:txBody>
      </p:sp>
      <p:sp>
        <p:nvSpPr>
          <p:cNvPr id="20" name="Shape 14">
            <a:extLst xmlns:a="http://schemas.openxmlformats.org/drawingml/2006/main">
              <a:ext uri="{FF2B5EF4-FFF2-40B4-BE49-F238E27FC236}">
                <a16:creationId xmlns:a16="http://schemas.microsoft.com/office/drawing/2014/main" id="{A5515EF3-1027-4657-B6B7-C43C9F385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605" y="3845052"/>
            <a:ext cx="5020056" cy="1429207"/>
          </a:xfrm>
          <a:prstGeom xmlns:a="http://schemas.openxmlformats.org/drawingml/2006/main" prst="roundRect">
            <a:avLst>
              <a:gd name="adj" fmla="val 3412"/>
            </a:avLst>
          </a:prstGeom>
          <a:solidFill xmlns:a="http://schemas.openxmlformats.org/drawingml/2006/main">
            <a:srgbClr val="1E3A8A">
              <a:alpha val="40000"/>
            </a:srgbClr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Text 15">
            <a:extLst xmlns:a="http://schemas.openxmlformats.org/drawingml/2006/main">
              <a:ext uri="{FF2B5EF4-FFF2-40B4-BE49-F238E27FC236}">
                <a16:creationId xmlns:a16="http://schemas.microsoft.com/office/drawing/2014/main" id="{73B7CA59-9D34-409C-B85B-2D1D05628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349" y="4082796"/>
            <a:ext cx="1901038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9CA3AF"/>
                </a:solidFill>
                <a:latin typeface="Poppins"/>
                <a:ea typeface="Poppins"/>
                <a:cs typeface="Poppins"/>
              </a:rPr>
              <a:t>FINAL MODEL</a:t>
            </a:r>
            <a:endParaRPr sz="1000"/>
          </a:p>
        </p:txBody>
      </p:sp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B6C0CA1F-57B1-474B-9B82-BC22D5EC6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349" y="4349801"/>
            <a:ext cx="4239158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i="1">
                <a:solidFill>
                  <a:srgbClr val="FFFFFF">
                    <a:alpha val="70000"/>
                  </a:srgbClr>
                </a:solidFill>
                <a:latin typeface="Poppins"/>
                <a:ea typeface="Poppins"/>
                <a:cs typeface="Poppins"/>
              </a:rPr>
              <a:t>6,939,289 parameters | 27.9 MB
29.35 ms model | 38.42 ms end-to-end
+6.111 dB PSNR over bicubic</a:t>
            </a:r>
            <a:endParaRPr sz="1200"/>
          </a:p>
        </p:txBody>
      </p:sp>
      <p:pic>
        <p:nvPicPr>
          <p:cNvPr id="53" name="Picture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7a71eb513046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78322" y="228650"/>
            <a:ext cx="1607366" cy="783591"/>
          </a:xfrm>
          <a:prstGeom xmlns:a="http://schemas.openxmlformats.org/drawingml/2006/main" prst="rect">
            <a:avLst/>
          </a:prstGeom>
        </p:spPr>
      </p:pic>
      <p:sp>
        <p:nvSpPr>
          <p:cNvPr id="25" name="Shape 1">
            <a:extLst xmlns:a="http://schemas.openxmlformats.org/drawingml/2006/main">
              <a:ext uri="{FF2B5EF4-FFF2-40B4-BE49-F238E27FC236}">
                <a16:creationId xmlns:a16="http://schemas.microsoft.com/office/drawing/2014/main" id="{BB3A3471-21A6-8A80-8399-32E98C63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8065"/>
            <a:ext cx="11048695" cy="857707"/>
          </a:xfrm>
          <a:prstGeom xmlns:a="http://schemas.openxmlformats.org/drawingml/2006/main" prst="roundRect">
            <a:avLst>
              <a:gd name="adj" fmla="val 9476"/>
            </a:avLst>
          </a:prstGeom>
          <a:solidFill xmlns:a="http://schemas.openxmlformats.org/drawingml/2006/main">
            <a:srgbClr val="FFFFFF">
              <a:alpha val="95000"/>
            </a:srgbClr>
          </a:solidFill>
          <a:effectLst xmlns:a="http://schemas.openxmlformats.org/drawingml/2006/main"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55" name="Picture 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b7ad95afba414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90929" y="393700"/>
            <a:ext cx="9163491" cy="58643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9911092"/>
      </p:ext>
    </p:extLst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>
            <a:extLst>
              <a:ext uri="{FF2B5EF4-FFF2-40B4-BE49-F238E27FC236}">
                <a16:creationId xmlns:a16="http://schemas.microsoft.com/office/drawing/2014/main" id="{54C30032-A2A8-4FFB-9DCA-889F026D6B5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</p:spPr>
        <p:txBody>
          <a:bodyPr/>
          <a:lstStyle/>
          <a:p>
            <a:endParaRPr/>
          </a:p>
        </p:txBody>
      </p:sp>
      <p:pic>
        <p:nvPicPr>
          <p:cNvPr id="33" name="Image 0"/>
          <p:cNvPicPr>
            <a:picLocks noChangeAspect="1"/>
          </p:cNvPicPr>
          <p:nvPr/>
        </p:nvPicPr>
        <p:blipFill>
          <a:blip r:embed="rId2">
            <a:alphaModFix amt="10000"/>
          </a:blip>
          <a:srcRect l="12327" t="0" r="12327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>
            <a:extLst>
              <a:ext uri="{FF2B5EF4-FFF2-40B4-BE49-F238E27FC236}">
                <a16:creationId xmlns:a16="http://schemas.microsoft.com/office/drawing/2014/main" id="{0CCE2120-A92B-4AEA-9415-57BBCCEA4B40}"/>
              </a:ext>
            </a:extLst>
          </p:cNvPr>
          <p:cNvSpPr>
            <a:spLocks noGrp="1"/>
          </p:cNvSpPr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5" name="Image 1"/>
          <p:cNvPicPr>
            <a:picLocks noChangeAspect="1"/>
          </p:cNvPicPr>
          <p:nvPr/>
        </p:nvPicPr>
        <p:blipFill>
          <a:blip r:embed="rId3"/>
          <a:srcRect l="0" t="10" r="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36" name="Image 2"/>
          <p:cNvPicPr>
            <a:picLocks noChangeAspect="1"/>
          </p:cNvPicPr>
          <p:nvPr/>
        </p:nvPicPr>
        <p:blipFill>
          <a:blip r:embed="rId4"/>
          <a:srcRect l="0" t="0" r="0" b="0"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>
            <a:extLst>
              <a:ext uri="{FF2B5EF4-FFF2-40B4-BE49-F238E27FC236}">
                <a16:creationId xmlns:a16="http://schemas.microsoft.com/office/drawing/2014/main" id="{DF2ADA34-12A2-4D08-B75E-A99FB0FBB57D}"/>
              </a:ext>
            </a:extLst>
          </p:cNvPr>
          <p:cNvSpPr>
            <a:spLocks noGrp="1"/>
          </p:cNvSpPr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</p:spPr>
        <p:txBody>
          <a:bodyPr/>
          <a:lstStyle/>
          <a:p>
            <a:endParaRPr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C81475E3-83B3-49E1-A2CF-CCDE2C3488D6}"/>
              </a:ext>
            </a:extLst>
          </p:cNvPr>
          <p:cNvSpPr>
            <a:spLocks noGrp="1"/>
          </p:cNvSpPr>
          <p:nvPr/>
        </p:nvSpPr>
        <p:spPr>
          <a:xfrm>
            <a:off x="838505" y="1295705"/>
            <a:ext cx="4986223" cy="46725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26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Results</a:t>
            </a:r>
            <a:endParaRPr sz="2600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FDD729CA-8169-4404-81E5-BA1EBF19948A}"/>
              </a:ext>
            </a:extLst>
          </p:cNvPr>
          <p:cNvSpPr>
            <a:spLocks noGrp="1"/>
          </p:cNvSpPr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2CFD9CBF-7D94-43C3-BEDE-A7A5545C7021}"/>
              </a:ext>
            </a:extLst>
          </p:cNvPr>
          <p:cNvSpPr>
            <a:spLocks noGrp="1"/>
          </p:cNvSpPr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BA8D95AD-8D0C-4CEC-88ED-B111CBA93F03}"/>
              </a:ext>
            </a:extLst>
          </p:cNvPr>
          <p:cNvSpPr>
            <a:spLocks noGrp="1"/>
          </p:cNvSpPr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91B7AF90-6C93-4940-9C53-787E5ED272A1}"/>
              </a:ext>
            </a:extLst>
          </p:cNvPr>
          <p:cNvSpPr>
            <a:spLocks noGrp="1"/>
          </p:cNvSpPr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2D499AF7-0FAB-4733-A995-4C9E01B107A2}"/>
              </a:ext>
            </a:extLst>
          </p:cNvPr>
          <p:cNvSpPr>
            <a:spLocks noGrp="1"/>
          </p:cNvSpPr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AF48AE24-F757-48A8-924E-0105A50CE5A1}"/>
              </a:ext>
            </a:extLst>
          </p:cNvPr>
          <p:cNvSpPr>
            <a:spLocks noGrp="1"/>
          </p:cNvSpPr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3"/>
          <p:cNvPicPr>
            <a:picLocks noChangeAspect="1"/>
          </p:cNvPicPr>
          <p:nvPr/>
        </p:nvPicPr>
        <p:blipFill>
          <a:blip r:embed="rId5"/>
          <a:srcRect l="-133" t="0" r="-133" b="0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>
            <a:extLst>
              <a:ext uri="{FF2B5EF4-FFF2-40B4-BE49-F238E27FC236}">
                <a16:creationId xmlns:a16="http://schemas.microsoft.com/office/drawing/2014/main" id="{9015E06C-2867-4933-8604-384085A49F81}"/>
              </a:ext>
            </a:extLst>
          </p:cNvPr>
          <p:cNvSpPr>
            <a:spLocks noGrp="1"/>
          </p:cNvSpPr>
          <p:nvPr/>
        </p:nvSpPr>
        <p:spPr>
          <a:xfrm>
            <a:off x="961949" y="3193085"/>
            <a:ext cx="9801454" cy="31455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800">
                <a:solidFill>
                  <a:srgbClr val="AEFF82">
                    <a:alpha val="80000"/>
                  </a:srgbClr>
                </a:solidFill>
                <a:latin typeface="Poppins"/>
                <a:ea typeface="Poppins"/>
                <a:cs typeface="Poppins"/>
              </a:rPr>
              <a:t>Quantitative metrics and visual evidence on the 320-image held-out split, identical protocol for every row.</a:t>
            </a:r>
            <a:endParaRPr sz="1800"/>
          </a:p>
        </p:txBody>
      </p:sp>
      <p:sp>
        <p:nvSpPr>
          <p:cNvPr id="17" name="Shape 11">
            <a:extLst>
              <a:ext uri="{FF2B5EF4-FFF2-40B4-BE49-F238E27FC236}">
                <a16:creationId xmlns:a16="http://schemas.microsoft.com/office/drawing/2014/main" id="{8C40B548-7810-4370-A45F-C15D0A47646E}"/>
              </a:ext>
            </a:extLst>
          </p:cNvPr>
          <p:cNvSpPr>
            <a:spLocks noGrp="1"/>
          </p:cNvSpPr>
          <p:nvPr/>
        </p:nvSpPr>
        <p:spPr>
          <a:xfrm>
            <a:off x="960120" y="3657600"/>
            <a:ext cx="5029200" cy="2834640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66677ED8-8EB3-49F3-874E-C511B9E5C7D9}"/>
              </a:ext>
            </a:extLst>
          </p:cNvPr>
          <p:cNvSpPr>
            <a:spLocks noGrp="1"/>
          </p:cNvSpPr>
          <p:nvPr/>
        </p:nvSpPr>
        <p:spPr>
          <a:xfrm>
            <a:off x="1197864" y="384048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000" b="1">
                <a:solidFill>
                  <a:srgbClr val="9CA3AF"/>
                </a:solidFill>
                <a:latin typeface="Poppins"/>
                <a:ea typeface="Poppins"/>
                <a:cs typeface="Poppins"/>
              </a:rPr>
              <a:t>QUANTITATIVE METRICS (320-image held-out)</a:t>
            </a:r>
            <a:endParaRPr sz="1000"/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F880E284-9A49-43B3-B38C-13B8FB2562CE}"/>
              </a:ext>
            </a:extLst>
          </p:cNvPr>
          <p:cNvSpPr>
            <a:spLocks noGrp="1"/>
          </p:cNvSpPr>
          <p:nvPr/>
        </p:nvSpPr>
        <p:spPr>
          <a:xfrm>
            <a:off x="1197864" y="4160520"/>
            <a:ext cx="4572000" cy="2194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200" i="1">
                <a:solidFill>
                  <a:srgbClr val="FFFFFF">
                    <a:alpha val="70000"/>
                  </a:srgbClr>
                </a:solidFill>
                <a:latin typeface="Poppins"/>
                <a:ea typeface="Poppins"/>
                <a:cs typeface="Poppins"/>
              </a:rPr>
              <a:t>PSNR: 29.0989 dB  (bicubic: 22.9877 dB)
SSIM: 0.7784  (bicubic: 0.5193)
LPIPS: 0.2760  (bicubic: 0.4435, lower is better)
MS-SSIM: 0.9396  (bicubic: 0.7943)
+6.111 dB PSNR over bicubic baseline
0/320 images lose to bicubic on PSNR or MS-SSIM</a:t>
            </a:r>
            <a:endParaRPr sz="1200"/>
          </a:p>
        </p:txBody>
      </p:sp>
      <p:sp>
        <p:nvSpPr>
          <p:cNvPr id="20" name="Shape 14">
            <a:extLst>
              <a:ext uri="{FF2B5EF4-FFF2-40B4-BE49-F238E27FC236}">
                <a16:creationId xmlns:a16="http://schemas.microsoft.com/office/drawing/2014/main" id="{A5515EF3-1027-4657-B6B7-C43C9F385264}"/>
              </a:ext>
            </a:extLst>
          </p:cNvPr>
          <p:cNvSpPr>
            <a:spLocks noGrp="1"/>
          </p:cNvSpPr>
          <p:nvPr/>
        </p:nvSpPr>
        <p:spPr>
          <a:xfrm>
            <a:off x="6263640" y="3657600"/>
            <a:ext cx="5029200" cy="2834640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73B7CA59-9D34-409C-B85B-2D1D05628FFC}"/>
              </a:ext>
            </a:extLst>
          </p:cNvPr>
          <p:cNvSpPr>
            <a:spLocks noGrp="1"/>
          </p:cNvSpPr>
          <p:nvPr/>
        </p:nvSpPr>
        <p:spPr>
          <a:xfrm>
            <a:off x="6492240" y="379476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000" b="1">
                <a:solidFill>
                  <a:srgbClr val="9CA3AF"/>
                </a:solidFill>
                <a:latin typeface="Poppins"/>
                <a:ea typeface="Poppins"/>
                <a:cs typeface="Poppins"/>
              </a:rPr>
              <a:t>VISUAL EVIDENCE: 000960 | degraded -&gt; restored -&gt; ground truth</a:t>
            </a:r>
            <a:endParaRPr sz="100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B6C0CA1F-57B1-474B-9B82-BC22D5EC674D}"/>
              </a:ext>
            </a:extLst>
          </p:cNvPr>
          <p:cNvSpPr>
            <a:spLocks noGrp="1"/>
          </p:cNvSpPr>
          <p:nvPr/>
        </p:nvSpPr>
        <p:spPr>
          <a:xfrm>
            <a:off x="6492240" y="617220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200" i="1">
                <a:solidFill>
                  <a:srgbClr val="FFFFFF">
                    <a:alpha val="70000"/>
                  </a:srgbClr>
                </a:solidFill>
                <a:latin typeface="Poppins"/>
                <a:ea typeface="Poppins"/>
                <a:cs typeface="Poppins"/>
              </a:rPr>
              <a:t>PSNR 40.83 dB | SSIM 0.9744</a:t>
            </a:r>
            <a:endParaRPr sz="1200"/>
          </a:p>
        </p:txBody>
      </p:sp>
      <p:pic>
        <p:nvPicPr>
          <p:cNvPr id="53" name="Picture 22"/>
          <p:cNvPicPr>
            <a:picLocks noChangeAspect="1"/>
          </p:cNvPicPr>
          <p:nvPr/>
        </p:nvPicPr>
        <p:blipFill>
          <a:blip r:embed="rId6"/>
          <a:stretch>
            <a:fillRect l="0" t="0" r="0" b="0"/>
          </a:stretch>
        </p:blipFill>
        <p:spPr>
          <a:xfrm>
            <a:off x="5178322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BB3A3471-21A6-8A80-8399-32E98C63F186}"/>
              </a:ext>
            </a:extLst>
          </p:cNvPr>
          <p:cNvSpPr>
            <a:spLocks noGrp="1"/>
          </p:cNvSpPr>
          <p:nvPr/>
        </p:nvSpPr>
        <p:spPr>
          <a:xfrm>
            <a:off x="571500" y="25806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5" name="Picture 25"/>
          <p:cNvPicPr>
            <a:picLocks noChangeAspect="1"/>
          </p:cNvPicPr>
          <p:nvPr/>
        </p:nvPicPr>
        <p:blipFill>
          <a:blip r:embed="rId7"/>
          <a:stretch>
            <a:fillRect l="0" t="0" r="0" b="0"/>
          </a:stretch>
        </p:blipFill>
        <p:spPr>
          <a:xfrm>
            <a:off x="1490929" y="393700"/>
            <a:ext cx="9163491" cy="586435"/>
          </a:xfrm>
          <a:prstGeom prst="rect">
            <a:avLst/>
          </a:prstGeom>
        </p:spPr>
      </p:pic>
      <p:pic>
        <p:nvPicPr>
          <p:cNvPr id="56" name="Picture 55" descr="000960_comparis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0080" y="4069080"/>
            <a:ext cx="357632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A991599-7E67-4031-8AC3-38AE80A4A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3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383451bfc0414c">
            <a:alphaModFix amt="10000"/>
          </a:blip>
          <a:srcRect xmlns:a="http://schemas.openxmlformats.org/drawingml/2006/main" l="12327" t="0" r="12327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DEEC4468-7227-4386-B8FA-1CAB907DA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6207"/>
            <a:ext cx="11048695" cy="666598"/>
          </a:xfrm>
          <a:prstGeom xmlns:a="http://schemas.openxmlformats.org/drawingml/2006/main" prst="roundRect">
            <a:avLst>
              <a:gd name="adj" fmla="val 15677"/>
            </a:avLst>
          </a:prstGeom>
          <a:solidFill xmlns:a="http://schemas.openxmlformats.org/drawingml/2006/main">
            <a:srgbClr val="FFFFFF">
              <a:alpha val="95000"/>
            </a:srgbClr>
          </a:solidFill>
          <a:effectLst xmlns:a="http://schemas.openxmlformats.org/drawingml/2006/main"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b714b82a3d4cc5"/>
          <a:srcRect xmlns:a="http://schemas.openxmlformats.org/drawingml/2006/main" l="0" t="10" r="0" b="10"/>
          <a:stretch xmlns:a="http://schemas.openxmlformats.org/drawingml/2006/main"/>
        </p:blipFill>
        <p:spPr>
          <a:xfrm xmlns:a="http://schemas.openxmlformats.org/drawingml/2006/main">
            <a:off x="857707" y="381305"/>
            <a:ext cx="1266444" cy="476402"/>
          </a:xfrm>
          <a:prstGeom xmlns:a="http://schemas.openxmlformats.org/drawingml/2006/main" prst="rect">
            <a:avLst/>
          </a:prstGeom>
        </p:spPr>
      </p:pic>
      <p:pic>
        <p:nvPicPr>
          <p:cNvPr id="45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50c424e69846ec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58500" y="381305"/>
            <a:ext cx="476402" cy="476402"/>
          </a:xfrm>
          <a:prstGeom xmlns:a="http://schemas.openxmlformats.org/drawingml/2006/main" prst="rect">
            <a:avLst/>
          </a:prstGeom>
        </p:spPr>
      </p:pic>
      <p:sp>
        <p:nvSpPr>
          <p:cNvPr id="7" name="Shape 2">
            <a:extLst xmlns:a="http://schemas.openxmlformats.org/drawingml/2006/main">
              <a:ext uri="{FF2B5EF4-FFF2-40B4-BE49-F238E27FC236}">
                <a16:creationId xmlns:a16="http://schemas.microsoft.com/office/drawing/2014/main" id="{D4ED9000-7FE7-4225-B672-DE83E23BF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38098"/>
            <a:ext cx="75895" cy="40965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E55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3">
            <a:extLst xmlns:a="http://schemas.openxmlformats.org/drawingml/2006/main">
              <a:ext uri="{FF2B5EF4-FFF2-40B4-BE49-F238E27FC236}">
                <a16:creationId xmlns:a16="http://schemas.microsoft.com/office/drawing/2014/main" id="{39F0F8EC-B774-479A-B055-E33E3AD5E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05" y="1200607"/>
            <a:ext cx="7824521" cy="4672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6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Technology, Feasibility and Impact</a:t>
            </a:r>
            <a:endParaRPr sz="2600"/>
          </a:p>
        </p:txBody>
      </p:sp>
      <p:sp>
        <p:nvSpPr>
          <p:cNvPr id="9" name="Shape 4">
            <a:extLst xmlns:a="http://schemas.openxmlformats.org/drawingml/2006/main">
              <a:ext uri="{FF2B5EF4-FFF2-40B4-BE49-F238E27FC236}">
                <a16:creationId xmlns:a16="http://schemas.microsoft.com/office/drawing/2014/main" id="{54FA9C11-B66B-4BDD-87C9-ABBCF3318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79092"/>
            <a:ext cx="11048695" cy="4695444"/>
          </a:xfrm>
          <a:prstGeom xmlns:a="http://schemas.openxmlformats.org/drawingml/2006/main" prst="roundRect">
            <a:avLst>
              <a:gd name="adj" fmla="val 632"/>
            </a:avLst>
          </a:prstGeom>
          <a:solidFill xmlns:a="http://schemas.openxmlformats.org/drawingml/2006/main">
            <a:srgbClr val="FFFFFF">
              <a:alpha val="5000"/>
            </a:srgbClr>
          </a:solidFill>
          <a:ln xmlns:a="http://schemas.openxmlformats.org/drawingml/2006/main"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Shape 5">
            <a:extLst xmlns:a="http://schemas.openxmlformats.org/drawingml/2006/main">
              <a:ext uri="{FF2B5EF4-FFF2-40B4-BE49-F238E27FC236}">
                <a16:creationId xmlns:a16="http://schemas.microsoft.com/office/drawing/2014/main" id="{E451BB16-E212-4963-ABF6-6958CFEFA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79092"/>
            <a:ext cx="190195" cy="190195"/>
          </a:xfrm>
          <a:prstGeom xmlns:a="http://schemas.openxmlformats.org/drawingml/2006/main" prst="roundRect">
            <a:avLst>
              <a:gd name="adj" fmla="val 192308"/>
            </a:avLst>
          </a:prstGeom>
          <a:noFill xmlns:a="http://schemas.openxmlformats.org/drawingml/2006/main"/>
          <a:ln xmlns:a="http://schemas.openxmlformats.org/drawingml/2006/main" w="38100">
            <a:solidFill>
              <a:srgbClr val="88E5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6">
            <a:extLst xmlns:a="http://schemas.openxmlformats.org/drawingml/2006/main">
              <a:ext uri="{FF2B5EF4-FFF2-40B4-BE49-F238E27FC236}">
                <a16:creationId xmlns:a16="http://schemas.microsoft.com/office/drawing/2014/main" id="{D3E15FFC-56AC-4BE8-AC3D-1D0C82DD2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879092"/>
            <a:ext cx="190195" cy="190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8E5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hape 7">
            <a:extLst xmlns:a="http://schemas.openxmlformats.org/drawingml/2006/main">
              <a:ext uri="{FF2B5EF4-FFF2-40B4-BE49-F238E27FC236}">
                <a16:creationId xmlns:a16="http://schemas.microsoft.com/office/drawing/2014/main" id="{B6FC7620-5E12-4094-B5B7-A091AE63F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81598"/>
            <a:ext cx="190195" cy="190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8E5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Shape 8">
            <a:extLst xmlns:a="http://schemas.openxmlformats.org/drawingml/2006/main">
              <a:ext uri="{FF2B5EF4-FFF2-40B4-BE49-F238E27FC236}">
                <a16:creationId xmlns:a16="http://schemas.microsoft.com/office/drawing/2014/main" id="{D728FF98-EBE9-4558-92CB-802A18E29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381598"/>
            <a:ext cx="190195" cy="190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8E5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hape 9">
            <a:extLst xmlns:a="http://schemas.openxmlformats.org/drawingml/2006/main">
              <a:ext uri="{FF2B5EF4-FFF2-40B4-BE49-F238E27FC236}">
                <a16:creationId xmlns:a16="http://schemas.microsoft.com/office/drawing/2014/main" id="{2F10BA2D-2185-4CA0-B719-E02E22E4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9" y="2269541"/>
            <a:ext cx="571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3383">
              <a:alpha val="50000"/>
            </a:srgbClr>
          </a:solidFill>
          <a:ln xmlns:a="http://schemas.openxmlformats.org/drawingml/2006/main" w="25400">
            <a:solidFill>
              <a:srgbClr val="AEFF8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54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b3610c559a4984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133856" y="2440534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16" name="Text 10">
            <a:extLst xmlns:a="http://schemas.openxmlformats.org/drawingml/2006/main">
              <a:ext uri="{FF2B5EF4-FFF2-40B4-BE49-F238E27FC236}">
                <a16:creationId xmlns:a16="http://schemas.microsoft.com/office/drawing/2014/main" id="{BE56C308-84AB-4FEF-891F-33EBC720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049" y="2287829"/>
            <a:ext cx="9344254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AEFF82">
                    <a:alpha val="90000"/>
                  </a:srgbClr>
                </a:solidFill>
                <a:latin typeface="Poppins"/>
                <a:ea typeface="Poppins"/>
                <a:cs typeface="Poppins"/>
              </a:rPr>
              <a:t>A trained, deterministic PyTorch pipeline restores every released test array with a standalone command and frozen checkpoint.</a:t>
            </a:r>
            <a:endParaRPr sz="1800"/>
          </a:p>
        </p:txBody>
      </p:sp>
      <p:sp>
        <p:nvSpPr>
          <p:cNvPr id="17" name="Shape 11">
            <a:extLst xmlns:a="http://schemas.openxmlformats.org/drawingml/2006/main">
              <a:ext uri="{FF2B5EF4-FFF2-40B4-BE49-F238E27FC236}">
                <a16:creationId xmlns:a16="http://schemas.microsoft.com/office/drawing/2014/main" id="{1E3507DD-35D3-4419-B954-8B1091235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049" y="3238805"/>
            <a:ext cx="9467698" cy="1276502"/>
          </a:xfrm>
          <a:prstGeom xmlns:a="http://schemas.openxmlformats.org/drawingml/2006/main" prst="roundRect">
            <a:avLst>
              <a:gd name="adj" fmla="val 4277"/>
            </a:avLst>
          </a:prstGeom>
          <a:solidFill xmlns:a="http://schemas.openxmlformats.org/drawingml/2006/main">
            <a:srgbClr val="1E3A8A">
              <a:alpha val="40000"/>
            </a:srgbClr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63A75D2A-020D-4F67-8636-95740A490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707" y="3477463"/>
            <a:ext cx="2033626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9CA3AF"/>
                </a:solidFill>
                <a:latin typeface="Poppins"/>
                <a:ea typeface="Poppins"/>
                <a:cs typeface="Poppins"/>
              </a:rPr>
              <a:t>IMPLEMENTATION AND TRUST BOUNDARY</a:t>
            </a:r>
            <a:endParaRPr sz="1000"/>
          </a:p>
        </p:txBody>
      </p:sp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110CC104-A16C-4329-98AA-A2198E862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707" y="3753612"/>
            <a:ext cx="8748979" cy="505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i="1">
                <a:solidFill>
                  <a:srgbClr val="FFFFFF">
                    <a:alpha val="70000"/>
                  </a:srgbClr>
                </a:solidFill>
                <a:latin typeface="Poppins"/>
                <a:ea typeface="Poppins"/>
                <a:cs typeface="Poppins"/>
              </a:rPr>
              <a:t>All 400 official test outputs verified finite and within [0,1] directly via the required inference.py entry point, 0 violations. Tests cover data, model, metrics, training and inference (257 tests). H100 and true OOD remain unverified.</a:t>
            </a:r>
            <a:endParaRPr sz="1300"/>
          </a:p>
        </p:txBody>
      </p:sp>
      <p:sp>
        <p:nvSpPr>
          <p:cNvPr id="20" name="Shape 14">
            <a:extLst xmlns:a="http://schemas.openxmlformats.org/drawingml/2006/main">
              <a:ext uri="{FF2B5EF4-FFF2-40B4-BE49-F238E27FC236}">
                <a16:creationId xmlns:a16="http://schemas.microsoft.com/office/drawing/2014/main" id="{B66B95C7-5D82-47D9-9318-B62C1464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9" y="5252314"/>
            <a:ext cx="3295498" cy="933602"/>
          </a:xfrm>
          <a:prstGeom xmlns:a="http://schemas.openxmlformats.org/drawingml/2006/main" prst="roundRect">
            <a:avLst>
              <a:gd name="adj" fmla="val 7995"/>
            </a:avLst>
          </a:prstGeom>
          <a:solidFill xmlns:a="http://schemas.openxmlformats.org/drawingml/2006/main">
            <a:srgbClr val="273383">
              <a:alpha val="40000"/>
            </a:srgbClr>
          </a:solidFill>
          <a:ln xmlns:a="http://schemas.openxmlformats.org/drawingml/2006/main"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0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7fe3c575e34d98"/>
          <a:srcRect xmlns:a="http://schemas.openxmlformats.org/drawingml/2006/main" l="0" t="-45" r="0" b="-45"/>
          <a:stretch xmlns:a="http://schemas.openxmlformats.org/drawingml/2006/main"/>
        </p:blipFill>
        <p:spPr>
          <a:xfrm xmlns:a="http://schemas.openxmlformats.org/drawingml/2006/main">
            <a:off x="2481682" y="5451653"/>
            <a:ext cx="256946" cy="228600"/>
          </a:xfrm>
          <a:prstGeom xmlns:a="http://schemas.openxmlformats.org/drawingml/2006/main" prst="rect">
            <a:avLst/>
          </a:prstGeom>
        </p:spPr>
      </p:pic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1885FD9C-B090-4D9B-8EE5-A8C26C0E4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1718" y="5823814"/>
            <a:ext cx="160843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E2E8F0"/>
                </a:solidFill>
                <a:latin typeface="Poppins"/>
                <a:ea typeface="Poppins"/>
                <a:cs typeface="Poppins"/>
              </a:rPr>
              <a:t>PyTorch 2.11 | FP32</a:t>
            </a:r>
            <a:endParaRPr sz="1000"/>
          </a:p>
        </p:txBody>
      </p:sp>
      <p:sp>
        <p:nvSpPr>
          <p:cNvPr id="23" name="Shape 16">
            <a:extLst xmlns:a="http://schemas.openxmlformats.org/drawingml/2006/main">
              <a:ext uri="{FF2B5EF4-FFF2-40B4-BE49-F238E27FC236}">
                <a16:creationId xmlns:a16="http://schemas.microsoft.com/office/drawing/2014/main" id="{8AB8E9D4-4EE1-4D90-9118-E61F7A7B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556" y="5252314"/>
            <a:ext cx="3295498" cy="933602"/>
          </a:xfrm>
          <a:prstGeom xmlns:a="http://schemas.openxmlformats.org/drawingml/2006/main" prst="roundRect">
            <a:avLst>
              <a:gd name="adj" fmla="val 7995"/>
            </a:avLst>
          </a:prstGeom>
          <a:solidFill xmlns:a="http://schemas.openxmlformats.org/drawingml/2006/main">
            <a:srgbClr val="273383">
              <a:alpha val="40000"/>
            </a:srgbClr>
          </a:solidFill>
          <a:ln xmlns:a="http://schemas.openxmlformats.org/drawingml/2006/main"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34aaa87cac4fc0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982005" y="5451653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5" name="Text 17">
            <a:extLst xmlns:a="http://schemas.openxmlformats.org/drawingml/2006/main">
              <a:ext uri="{FF2B5EF4-FFF2-40B4-BE49-F238E27FC236}">
                <a16:creationId xmlns:a16="http://schemas.microsoft.com/office/drawing/2014/main" id="{49519C89-71EB-4E91-835D-B5D957CD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7061" y="5823814"/>
            <a:ext cx="172273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E2E8F0"/>
                </a:solidFill>
                <a:latin typeface="Poppins"/>
                <a:ea typeface="Poppins"/>
                <a:cs typeface="Poppins"/>
              </a:rPr>
              <a:t>RTX 5070 Ti | 22,000 iters</a:t>
            </a:r>
            <a:endParaRPr sz="1000"/>
          </a:p>
        </p:txBody>
      </p:sp>
      <p:sp>
        <p:nvSpPr>
          <p:cNvPr id="26" name="Shape 18">
            <a:extLst xmlns:a="http://schemas.openxmlformats.org/drawingml/2006/main">
              <a:ext uri="{FF2B5EF4-FFF2-40B4-BE49-F238E27FC236}">
                <a16:creationId xmlns:a16="http://schemas.microsoft.com/office/drawing/2014/main" id="{B696D94F-72E2-4B71-82E9-A37506C8B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249" y="5252314"/>
            <a:ext cx="3295498" cy="933602"/>
          </a:xfrm>
          <a:prstGeom xmlns:a="http://schemas.openxmlformats.org/drawingml/2006/main" prst="roundRect">
            <a:avLst>
              <a:gd name="adj" fmla="val 7995"/>
            </a:avLst>
          </a:prstGeom>
          <a:solidFill xmlns:a="http://schemas.openxmlformats.org/drawingml/2006/main">
            <a:srgbClr val="273383">
              <a:alpha val="40000"/>
            </a:srgbClr>
          </a:solidFill>
          <a:ln xmlns:a="http://schemas.openxmlformats.org/drawingml/2006/main"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6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3255294095460e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67698" y="5451653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8" name="Text 19">
            <a:extLst xmlns:a="http://schemas.openxmlformats.org/drawingml/2006/main">
              <a:ext uri="{FF2B5EF4-FFF2-40B4-BE49-F238E27FC236}">
                <a16:creationId xmlns:a16="http://schemas.microsoft.com/office/drawing/2014/main" id="{F4E17CAF-F6D8-42FF-85C9-E538EC303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9058" y="5823814"/>
            <a:ext cx="1436522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E2E8F0"/>
                </a:solidFill>
                <a:latin typeface="Poppins"/>
                <a:ea typeface="Poppins"/>
                <a:cs typeface="Poppins"/>
              </a:rPr>
              <a:t>+6.111 dB | 29.35 ms</a:t>
            </a:r>
            <a:endParaRPr sz="1000"/>
          </a:p>
        </p:txBody>
      </p:sp>
      <p:pic>
        <p:nvPicPr>
          <p:cNvPr id="68" name="Picture 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8381ac0b9243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44743" y="228600"/>
            <a:ext cx="1607366" cy="783591"/>
          </a:xfrm>
          <a:prstGeom xmlns:a="http://schemas.openxmlformats.org/drawingml/2006/main" prst="rect">
            <a:avLst/>
          </a:prstGeom>
        </p:spPr>
      </p:pic>
      <p:sp>
        <p:nvSpPr>
          <p:cNvPr id="31" name="Shape 1">
            <a:extLst xmlns:a="http://schemas.openxmlformats.org/drawingml/2006/main">
              <a:ext uri="{FF2B5EF4-FFF2-40B4-BE49-F238E27FC236}">
                <a16:creationId xmlns:a16="http://schemas.microsoft.com/office/drawing/2014/main" id="{10B6379C-1BCE-6784-4600-934501FC5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793"/>
            <a:ext cx="11048695" cy="857707"/>
          </a:xfrm>
          <a:prstGeom xmlns:a="http://schemas.openxmlformats.org/drawingml/2006/main" prst="roundRect">
            <a:avLst>
              <a:gd name="adj" fmla="val 9476"/>
            </a:avLst>
          </a:prstGeom>
          <a:solidFill xmlns:a="http://schemas.openxmlformats.org/drawingml/2006/main">
            <a:srgbClr val="FFFFFF">
              <a:alpha val="95000"/>
            </a:srgbClr>
          </a:solidFill>
          <a:effectLst xmlns:a="http://schemas.openxmlformats.org/drawingml/2006/main"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0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aeb8479a9847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14101" y="378206"/>
            <a:ext cx="9163491" cy="58643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49861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9037111-F71A-4C77-A879-EC3C27A66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3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ff38b57a55401f">
            <a:alphaModFix amt="10000"/>
          </a:blip>
          <a:srcRect xmlns:a="http://schemas.openxmlformats.org/drawingml/2006/main" l="12327" t="0" r="12327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278EC71B-5FE1-4A7C-A640-5D651CF8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6207"/>
            <a:ext cx="11048695" cy="666598"/>
          </a:xfrm>
          <a:prstGeom xmlns:a="http://schemas.openxmlformats.org/drawingml/2006/main" prst="roundRect">
            <a:avLst>
              <a:gd name="adj" fmla="val 15677"/>
            </a:avLst>
          </a:prstGeom>
          <a:solidFill xmlns:a="http://schemas.openxmlformats.org/drawingml/2006/main">
            <a:srgbClr val="FFFFFF">
              <a:alpha val="95000"/>
            </a:srgbClr>
          </a:solidFill>
          <a:effectLst xmlns:a="http://schemas.openxmlformats.org/drawingml/2006/main"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f2fcf545a74ddd"/>
          <a:srcRect xmlns:a="http://schemas.openxmlformats.org/drawingml/2006/main" l="0" t="10" r="0" b="10"/>
          <a:stretch xmlns:a="http://schemas.openxmlformats.org/drawingml/2006/main"/>
        </p:blipFill>
        <p:spPr>
          <a:xfrm xmlns:a="http://schemas.openxmlformats.org/drawingml/2006/main">
            <a:off x="857707" y="381305"/>
            <a:ext cx="1266444" cy="476402"/>
          </a:xfrm>
          <a:prstGeom xmlns:a="http://schemas.openxmlformats.org/drawingml/2006/main" prst="rect">
            <a:avLst/>
          </a:prstGeom>
        </p:spPr>
      </p:pic>
      <p:pic>
        <p:nvPicPr>
          <p:cNvPr id="4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def692a7c347ee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58500" y="381305"/>
            <a:ext cx="476402" cy="476402"/>
          </a:xfrm>
          <a:prstGeom xmlns:a="http://schemas.openxmlformats.org/drawingml/2006/main" prst="rect">
            <a:avLst/>
          </a:prstGeom>
        </p:spPr>
      </p:pic>
      <p:sp>
        <p:nvSpPr>
          <p:cNvPr id="7" name="Shape 2">
            <a:extLst xmlns:a="http://schemas.openxmlformats.org/drawingml/2006/main">
              <a:ext uri="{FF2B5EF4-FFF2-40B4-BE49-F238E27FC236}">
                <a16:creationId xmlns:a16="http://schemas.microsoft.com/office/drawing/2014/main" id="{7EBA136F-A561-41DF-85B8-BFDE7D906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90549"/>
            <a:ext cx="75895" cy="40965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8E55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3">
            <a:extLst xmlns:a="http://schemas.openxmlformats.org/drawingml/2006/main">
              <a:ext uri="{FF2B5EF4-FFF2-40B4-BE49-F238E27FC236}">
                <a16:creationId xmlns:a16="http://schemas.microsoft.com/office/drawing/2014/main" id="{C85F60AA-A842-4CFB-A946-6744286FB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05" y="1152144"/>
            <a:ext cx="4624121" cy="4672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6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Research, Code and References</a:t>
            </a:r>
            <a:endParaRPr sz="2600"/>
          </a:p>
        </p:txBody>
      </p:sp>
      <p:sp>
        <p:nvSpPr>
          <p:cNvPr id="9" name="Shape 4">
            <a:extLst xmlns:a="http://schemas.openxmlformats.org/drawingml/2006/main">
              <a:ext uri="{FF2B5EF4-FFF2-40B4-BE49-F238E27FC236}">
                <a16:creationId xmlns:a16="http://schemas.microsoft.com/office/drawing/2014/main" id="{82CCE1F5-2E64-4213-B2CE-19F7C5B80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30629"/>
            <a:ext cx="11048695" cy="4743907"/>
          </a:xfrm>
          <a:prstGeom xmlns:a="http://schemas.openxmlformats.org/drawingml/2006/main" prst="roundRect">
            <a:avLst>
              <a:gd name="adj" fmla="val 619"/>
            </a:avLst>
          </a:prstGeom>
          <a:solidFill xmlns:a="http://schemas.openxmlformats.org/drawingml/2006/main">
            <a:srgbClr val="FFFFFF">
              <a:alpha val="5000"/>
            </a:srgbClr>
          </a:solidFill>
          <a:ln xmlns:a="http://schemas.openxmlformats.org/drawingml/2006/main"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Shape 5">
            <a:extLst xmlns:a="http://schemas.openxmlformats.org/drawingml/2006/main">
              <a:ext uri="{FF2B5EF4-FFF2-40B4-BE49-F238E27FC236}">
                <a16:creationId xmlns:a16="http://schemas.microsoft.com/office/drawing/2014/main" id="{3825CC24-1991-4317-89CA-9C93F0CD5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30629"/>
            <a:ext cx="190195" cy="190195"/>
          </a:xfrm>
          <a:prstGeom xmlns:a="http://schemas.openxmlformats.org/drawingml/2006/main" prst="roundRect">
            <a:avLst>
              <a:gd name="adj" fmla="val 192308"/>
            </a:avLst>
          </a:prstGeom>
          <a:noFill xmlns:a="http://schemas.openxmlformats.org/drawingml/2006/main"/>
          <a:ln xmlns:a="http://schemas.openxmlformats.org/drawingml/2006/main" w="38100">
            <a:solidFill>
              <a:srgbClr val="88E5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6">
            <a:extLst xmlns:a="http://schemas.openxmlformats.org/drawingml/2006/main">
              <a:ext uri="{FF2B5EF4-FFF2-40B4-BE49-F238E27FC236}">
                <a16:creationId xmlns:a16="http://schemas.microsoft.com/office/drawing/2014/main" id="{28BE731D-AC61-41AE-B8FB-85ED6386D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830629"/>
            <a:ext cx="190195" cy="190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8E5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hape 7">
            <a:extLst xmlns:a="http://schemas.openxmlformats.org/drawingml/2006/main">
              <a:ext uri="{FF2B5EF4-FFF2-40B4-BE49-F238E27FC236}">
                <a16:creationId xmlns:a16="http://schemas.microsoft.com/office/drawing/2014/main" id="{44E0D3B1-CF7A-4253-8535-98420E9B0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81598"/>
            <a:ext cx="190195" cy="190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8E5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Shape 8">
            <a:extLst xmlns:a="http://schemas.openxmlformats.org/drawingml/2006/main">
              <a:ext uri="{FF2B5EF4-FFF2-40B4-BE49-F238E27FC236}">
                <a16:creationId xmlns:a16="http://schemas.microsoft.com/office/drawing/2014/main" id="{D69008A7-0E40-45A2-9E4B-7333E437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381598"/>
            <a:ext cx="190195" cy="190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8E5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hape 9">
            <a:extLst xmlns:a="http://schemas.openxmlformats.org/drawingml/2006/main">
              <a:ext uri="{FF2B5EF4-FFF2-40B4-BE49-F238E27FC236}">
                <a16:creationId xmlns:a16="http://schemas.microsoft.com/office/drawing/2014/main" id="{95375588-F903-4DB8-B067-2FA74878F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9" y="2173529"/>
            <a:ext cx="476402" cy="47640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3383">
              <a:alpha val="50000"/>
            </a:srgbClr>
          </a:solidFill>
          <a:ln xmlns:a="http://schemas.openxmlformats.org/drawingml/2006/main" w="25400">
            <a:solidFill>
              <a:srgbClr val="AEFF8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8b02de48434bc3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6307" y="2297887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16" name="Text 10">
            <a:extLst xmlns:a="http://schemas.openxmlformats.org/drawingml/2006/main">
              <a:ext uri="{FF2B5EF4-FFF2-40B4-BE49-F238E27FC236}">
                <a16:creationId xmlns:a16="http://schemas.microsoft.com/office/drawing/2014/main" id="{AE7389F1-75D7-49FE-BC3F-1962A1D1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546" y="2173529"/>
            <a:ext cx="3810305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88E555"/>
                </a:solidFill>
                <a:latin typeface="Poppins"/>
                <a:ea typeface="Poppins"/>
                <a:cs typeface="Poppins"/>
              </a:rPr>
              <a:t>Research Basis + Reproducibility</a:t>
            </a:r>
            <a:endParaRPr sz="1500"/>
          </a:p>
        </p:txBody>
      </p:sp>
      <p:sp>
        <p:nvSpPr>
          <p:cNvPr id="17" name="Text 11">
            <a:extLst xmlns:a="http://schemas.openxmlformats.org/drawingml/2006/main">
              <a:ext uri="{FF2B5EF4-FFF2-40B4-BE49-F238E27FC236}">
                <a16:creationId xmlns:a16="http://schemas.microsoft.com/office/drawing/2014/main" id="{FEF4022D-E493-4C00-8470-A4FCC3516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546" y="2516429"/>
            <a:ext cx="570128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D1D5DB"/>
                </a:solidFill>
                <a:latin typeface="Poppins"/>
                <a:ea typeface="Poppins"/>
                <a:cs typeface="Poppins"/>
              </a:rPr>
              <a:t>Implemented evidence and submission links</a:t>
            </a:r>
            <a:endParaRPr sz="1000"/>
          </a:p>
        </p:txBody>
      </p:sp>
      <p:sp>
        <p:nvSpPr>
          <p:cNvPr id="18" name="Shape 12">
            <a:extLst xmlns:a="http://schemas.openxmlformats.org/drawingml/2006/main">
              <a:ext uri="{FF2B5EF4-FFF2-40B4-BE49-F238E27FC236}">
                <a16:creationId xmlns:a16="http://schemas.microsoft.com/office/drawing/2014/main" id="{7379F5BC-BB2E-49A8-8A77-C43AD7E0D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546" y="2783434"/>
            <a:ext cx="9601200" cy="1067105"/>
          </a:xfrm>
          <a:prstGeom xmlns:a="http://schemas.openxmlformats.org/drawingml/2006/main" prst="roundRect">
            <a:avLst>
              <a:gd name="adj" fmla="val 6121"/>
            </a:avLst>
          </a:prstGeom>
          <a:solidFill xmlns:a="http://schemas.openxmlformats.org/drawingml/2006/main">
            <a:srgbClr val="1E3A8A">
              <a:alpha val="40000"/>
            </a:srgbClr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3B5C7BFA-93F7-4CBE-B016-734BAF986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395" y="2945282"/>
            <a:ext cx="5544007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i="1">
                <a:solidFill>
                  <a:srgbClr val="FFFFFF">
                    <a:alpha val="70000"/>
                  </a:srgbClr>
                </a:solidFill>
                <a:latin typeface="Poppins"/>
                <a:ea typeface="Poppins"/>
                <a:cs typeface="Poppins"/>
              </a:rPr>
              <a:t>2026 UCAN and ShiftLUT motivate wider spatial context; our 5x5 depthwise ablation is the measured adaptation.
GitHub: github.com/Vikaash301/kla-semicon   Video: [ADD OPTIONAL DEMO URL]</a:t>
            </a:r>
            <a:endParaRPr sz="1200"/>
          </a:p>
        </p:txBody>
      </p:sp>
      <p:sp>
        <p:nvSpPr>
          <p:cNvPr id="20" name="Shape 14">
            <a:extLst xmlns:a="http://schemas.openxmlformats.org/drawingml/2006/main">
              <a:ext uri="{FF2B5EF4-FFF2-40B4-BE49-F238E27FC236}">
                <a16:creationId xmlns:a16="http://schemas.microsoft.com/office/drawing/2014/main" id="{B1DCBEC9-7DB7-4767-A007-6A2DA0389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9" y="4155034"/>
            <a:ext cx="476402" cy="47640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3383">
              <a:alpha val="50000"/>
            </a:srgbClr>
          </a:solidFill>
          <a:ln xmlns:a="http://schemas.openxmlformats.org/drawingml/2006/main" w="25400">
            <a:solidFill>
              <a:srgbClr val="AEFF8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59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d5ab06475047d1"/>
          <a:srcRect xmlns:a="http://schemas.openxmlformats.org/drawingml/2006/main" l="-80" t="0" r="-80" b="0"/>
          <a:stretch xmlns:a="http://schemas.openxmlformats.org/drawingml/2006/main"/>
        </p:blipFill>
        <p:spPr>
          <a:xfrm xmlns:a="http://schemas.openxmlformats.org/drawingml/2006/main">
            <a:off x="1057046" y="4279392"/>
            <a:ext cx="286207" cy="228600"/>
          </a:xfrm>
          <a:prstGeom xmlns:a="http://schemas.openxmlformats.org/drawingml/2006/main" prst="rect">
            <a:avLst/>
          </a:prstGeom>
        </p:spPr>
      </p:pic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6BFB0B10-EC6D-4447-8EEE-561D39E0F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546" y="4155034"/>
            <a:ext cx="23436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88E555"/>
                </a:solidFill>
                <a:latin typeface="Poppins"/>
                <a:ea typeface="Poppins"/>
                <a:cs typeface="Poppins"/>
              </a:rPr>
              <a:t>References &amp; Citations</a:t>
            </a:r>
            <a:endParaRPr sz="1500"/>
          </a:p>
        </p:txBody>
      </p:sp>
      <p:sp>
        <p:nvSpPr>
          <p:cNvPr id="23" name="Text 16">
            <a:extLst xmlns:a="http://schemas.openxmlformats.org/drawingml/2006/main">
              <a:ext uri="{FF2B5EF4-FFF2-40B4-BE49-F238E27FC236}">
                <a16:creationId xmlns:a16="http://schemas.microsoft.com/office/drawing/2014/main" id="{86363100-0497-428A-81EA-F4FF828D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546" y="4497934"/>
            <a:ext cx="2767889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D1D5DB"/>
                </a:solidFill>
                <a:latin typeface="Poppins"/>
                <a:ea typeface="Poppins"/>
                <a:cs typeface="Poppins"/>
              </a:rPr>
              <a:t>Primary sources; full verified list in REFERENCES.md</a:t>
            </a:r>
            <a:endParaRPr sz="1000"/>
          </a:p>
        </p:txBody>
      </p:sp>
      <p:sp>
        <p:nvSpPr>
          <p:cNvPr id="24" name="Shape 17">
            <a:extLst xmlns:a="http://schemas.openxmlformats.org/drawingml/2006/main">
              <a:ext uri="{FF2B5EF4-FFF2-40B4-BE49-F238E27FC236}">
                <a16:creationId xmlns:a16="http://schemas.microsoft.com/office/drawing/2014/main" id="{73305CAA-8728-4677-8131-61C32640D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546" y="4764938"/>
            <a:ext cx="9601200" cy="1410005"/>
          </a:xfrm>
          <a:prstGeom xmlns:a="http://schemas.openxmlformats.org/drawingml/2006/main" prst="roundRect">
            <a:avLst>
              <a:gd name="adj" fmla="val 3505"/>
            </a:avLst>
          </a:prstGeom>
          <a:solidFill xmlns:a="http://schemas.openxmlformats.org/drawingml/2006/main">
            <a:srgbClr val="1E3A8A">
              <a:alpha val="40000"/>
            </a:srgbClr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18">
            <a:extLst xmlns:a="http://schemas.openxmlformats.org/drawingml/2006/main">
              <a:ext uri="{FF2B5EF4-FFF2-40B4-BE49-F238E27FC236}">
                <a16:creationId xmlns:a16="http://schemas.microsoft.com/office/drawing/2014/main" id="{3DB6E72D-8F93-4D68-BCAE-C9578A371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395" y="5232197"/>
            <a:ext cx="9277502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>
              <a:alpha val="30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19">
            <a:extLst xmlns:a="http://schemas.openxmlformats.org/drawingml/2006/main">
              <a:ext uri="{FF2B5EF4-FFF2-40B4-BE49-F238E27FC236}">
                <a16:creationId xmlns:a16="http://schemas.microsoft.com/office/drawing/2014/main" id="{DDD962C3-A587-4204-AF8E-66B06E9C3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395" y="4926787"/>
            <a:ext cx="321960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FFFFFF">
                    <a:alpha val="80000"/>
                  </a:srgbClr>
                </a:solidFill>
                <a:latin typeface="Poppins"/>
                <a:ea typeface="Poppins"/>
                <a:cs typeface="Poppins"/>
              </a:rPr>
              <a:t>UCAN - Expansive Receptive Fields for Lightweight SR (CVPR 2026)</a:t>
            </a:r>
            <a:endParaRPr sz="1200"/>
          </a:p>
        </p:txBody>
      </p:sp>
      <p:sp>
        <p:nvSpPr>
          <p:cNvPr id="27" name="Shape 20">
            <a:extLst xmlns:a="http://schemas.openxmlformats.org/drawingml/2006/main">
              <a:ext uri="{FF2B5EF4-FFF2-40B4-BE49-F238E27FC236}">
                <a16:creationId xmlns:a16="http://schemas.microsoft.com/office/drawing/2014/main" id="{D35B5B60-6271-4DAA-96D1-CC2DB3FF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395" y="5661050"/>
            <a:ext cx="9277502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>
              <a:alpha val="30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5F98A61B-0AA1-4CB1-B67A-4A38EFA74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395" y="5355641"/>
            <a:ext cx="32580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FFFFFF">
                    <a:alpha val="80000"/>
                  </a:srgbClr>
                </a:solidFill>
                <a:latin typeface="Poppins"/>
                <a:ea typeface="Poppins"/>
                <a:cs typeface="Poppins"/>
              </a:rPr>
              <a:t>ShiftLUT - Spatial Shift Enhanced LUTs for Restoration (CVPR 2026)</a:t>
            </a:r>
            <a:endParaRPr sz="1200"/>
          </a:p>
        </p:txBody>
      </p:sp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5A7ADD0F-A618-47A5-BF65-348B65B28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395" y="5783580"/>
            <a:ext cx="32580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FFFFFF">
                    <a:alpha val="80000"/>
                  </a:srgbClr>
                </a:solidFill>
                <a:latin typeface="Poppins"/>
                <a:ea typeface="Poppins"/>
                <a:cs typeface="Poppins"/>
              </a:rPr>
              <a:t>I4C Hackathon 2026 challenge and released paired dataset (i4c.in)</a:t>
            </a:r>
            <a:endParaRPr sz="1200"/>
          </a:p>
        </p:txBody>
      </p:sp>
      <p:pic>
        <p:nvPicPr>
          <p:cNvPr id="68" name="Picture 2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1489bab4ce43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92164" y="227710"/>
            <a:ext cx="1607366" cy="783591"/>
          </a:xfrm>
          <a:prstGeom xmlns:a="http://schemas.openxmlformats.org/drawingml/2006/main" prst="rect">
            <a:avLst/>
          </a:prstGeom>
        </p:spPr>
      </p:pic>
      <p:sp>
        <p:nvSpPr>
          <p:cNvPr id="32" name="Shape 1">
            <a:extLst xmlns:a="http://schemas.openxmlformats.org/drawingml/2006/main">
              <a:ext uri="{FF2B5EF4-FFF2-40B4-BE49-F238E27FC236}">
                <a16:creationId xmlns:a16="http://schemas.microsoft.com/office/drawing/2014/main" id="{3E27E131-AC1D-E75C-0267-02565ACC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9714"/>
            <a:ext cx="11048695" cy="857707"/>
          </a:xfrm>
          <a:prstGeom xmlns:a="http://schemas.openxmlformats.org/drawingml/2006/main" prst="roundRect">
            <a:avLst>
              <a:gd name="adj" fmla="val 9476"/>
            </a:avLst>
          </a:prstGeom>
          <a:solidFill xmlns:a="http://schemas.openxmlformats.org/drawingml/2006/main">
            <a:srgbClr val="FFFFFF">
              <a:alpha val="95000"/>
            </a:srgbClr>
          </a:solidFill>
          <a:effectLst xmlns:a="http://schemas.openxmlformats.org/drawingml/2006/main"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0" name="Picture 3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a4233f212a41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14101" y="390016"/>
            <a:ext cx="9163491" cy="58643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614550"/>
      </p:ext>
    </p:extLst>
  </p:cSld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>
            <a:extLst>
              <a:ext uri="{FF2B5EF4-FFF2-40B4-BE49-F238E27FC236}">
                <a16:creationId xmlns:a16="http://schemas.microsoft.com/office/drawing/2014/main" id="{C9037111-F71A-4C77-A879-EC3C27A668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</p:spPr>
        <p:txBody>
          <a:bodyPr/>
          <a:lstStyle/>
          <a:p>
            <a:endParaRPr/>
          </a:p>
        </p:txBody>
      </p:sp>
      <p:pic>
        <p:nvPicPr>
          <p:cNvPr id="41" name="Image 0"/>
          <p:cNvPicPr>
            <a:picLocks noChangeAspect="1"/>
          </p:cNvPicPr>
          <p:nvPr/>
        </p:nvPicPr>
        <p:blipFill>
          <a:blip r:embed="rId2">
            <a:alphaModFix amt="10000"/>
          </a:blip>
          <a:srcRect l="12327" t="0" r="12327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>
            <a:extLst>
              <a:ext uri="{FF2B5EF4-FFF2-40B4-BE49-F238E27FC236}">
                <a16:creationId xmlns:a16="http://schemas.microsoft.com/office/drawing/2014/main" id="{278EC71B-5FE1-4A7C-A640-5D651CF82027}"/>
              </a:ext>
            </a:extLst>
          </p:cNvPr>
          <p:cNvSpPr>
            <a:spLocks noGrp="1"/>
          </p:cNvSpPr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43" name="Image 1"/>
          <p:cNvPicPr>
            <a:picLocks noChangeAspect="1"/>
          </p:cNvPicPr>
          <p:nvPr/>
        </p:nvPicPr>
        <p:blipFill>
          <a:blip r:embed="rId3"/>
          <a:srcRect l="0" t="10" r="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44" name="Image 2"/>
          <p:cNvPicPr>
            <a:picLocks noChangeAspect="1"/>
          </p:cNvPicPr>
          <p:nvPr/>
        </p:nvPicPr>
        <p:blipFill>
          <a:blip r:embed="rId4"/>
          <a:srcRect l="0" t="0" r="0" b="0"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>
            <a:extLst>
              <a:ext uri="{FF2B5EF4-FFF2-40B4-BE49-F238E27FC236}">
                <a16:creationId xmlns:a16="http://schemas.microsoft.com/office/drawing/2014/main" id="{7EBA136F-A561-41DF-85B8-BFDE7D906FB8}"/>
              </a:ext>
            </a:extLst>
          </p:cNvPr>
          <p:cNvSpPr>
            <a:spLocks noGrp="1"/>
          </p:cNvSpPr>
          <p:nvPr/>
        </p:nvSpPr>
        <p:spPr>
          <a:xfrm>
            <a:off x="571500" y="1190549"/>
            <a:ext cx="75895" cy="409651"/>
          </a:xfrm>
          <a:prstGeom prst="rect">
            <a:avLst/>
          </a:prstGeom>
          <a:solidFill>
            <a:srgbClr val="88E555"/>
          </a:solidFill>
        </p:spPr>
        <p:txBody>
          <a:bodyPr/>
          <a:lstStyle/>
          <a:p>
            <a:endParaRPr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C85F60AA-A842-4CFB-A946-6744286FBCFB}"/>
              </a:ext>
            </a:extLst>
          </p:cNvPr>
          <p:cNvSpPr>
            <a:spLocks noGrp="1"/>
          </p:cNvSpPr>
          <p:nvPr/>
        </p:nvSpPr>
        <p:spPr>
          <a:xfrm>
            <a:off x="838505" y="1152144"/>
            <a:ext cx="4624121" cy="46725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26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GitHub &amp; Video Link</a:t>
            </a:r>
            <a:endParaRPr sz="2600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82CCE1F5-2E64-4213-B2CE-19F7C5B80504}"/>
              </a:ext>
            </a:extLst>
          </p:cNvPr>
          <p:cNvSpPr>
            <a:spLocks noGrp="1"/>
          </p:cNvSpPr>
          <p:nvPr/>
        </p:nvSpPr>
        <p:spPr>
          <a:xfrm>
            <a:off x="571500" y="1830629"/>
            <a:ext cx="11048695" cy="4743907"/>
          </a:xfrm>
          <a:prstGeom prst="roundRect">
            <a:avLst>
              <a:gd name="adj" fmla="val 61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3825CC24-1991-4317-89CA-9C93F0CD54DA}"/>
              </a:ext>
            </a:extLst>
          </p:cNvPr>
          <p:cNvSpPr>
            <a:spLocks noGrp="1"/>
          </p:cNvSpPr>
          <p:nvPr/>
        </p:nvSpPr>
        <p:spPr>
          <a:xfrm>
            <a:off x="571500" y="1830629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28BE731D-AC61-41AE-B8FB-85ED6386DB32}"/>
              </a:ext>
            </a:extLst>
          </p:cNvPr>
          <p:cNvSpPr>
            <a:spLocks noGrp="1"/>
          </p:cNvSpPr>
          <p:nvPr/>
        </p:nvSpPr>
        <p:spPr>
          <a:xfrm>
            <a:off x="11430000" y="1830629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44E0D3B1-CF7A-4253-8535-98420E9B0299}"/>
              </a:ext>
            </a:extLst>
          </p:cNvPr>
          <p:cNvSpPr>
            <a:spLocks noGrp="1"/>
          </p:cNvSpPr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D69008A7-0E40-45A2-9E4B-7333E4370058}"/>
              </a:ext>
            </a:extLst>
          </p:cNvPr>
          <p:cNvSpPr>
            <a:spLocks noGrp="1"/>
          </p:cNvSpPr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95375588-F903-4DB8-B067-2FA74878F769}"/>
              </a:ext>
            </a:extLst>
          </p:cNvPr>
          <p:cNvSpPr>
            <a:spLocks noGrp="1"/>
          </p:cNvSpPr>
          <p:nvPr/>
        </p:nvSpPr>
        <p:spPr>
          <a:xfrm>
            <a:off x="961949" y="2173529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3" name="Image 3"/>
          <p:cNvPicPr>
            <a:picLocks noChangeAspect="1"/>
          </p:cNvPicPr>
          <p:nvPr/>
        </p:nvPicPr>
        <p:blipFill>
          <a:blip r:embed="rId5"/>
          <a:srcRect l="0" t="0" r="0" b="0"/>
          <a:stretch/>
        </p:blipFill>
        <p:spPr>
          <a:xfrm>
            <a:off x="1086307" y="2297887"/>
            <a:ext cx="228600" cy="228600"/>
          </a:xfrm>
          <a:prstGeom prst="rect">
            <a:avLst/>
          </a:prstGeom>
        </p:spPr>
      </p:pic>
      <p:sp>
        <p:nvSpPr>
          <p:cNvPr id="16" name="Text 10">
            <a:extLst>
              <a:ext uri="{FF2B5EF4-FFF2-40B4-BE49-F238E27FC236}">
                <a16:creationId xmlns:a16="http://schemas.microsoft.com/office/drawing/2014/main" id="{AE7389F1-75D7-49FE-BC3F-1962A1D15DE1}"/>
              </a:ext>
            </a:extLst>
          </p:cNvPr>
          <p:cNvSpPr>
            <a:spLocks noGrp="1"/>
          </p:cNvSpPr>
          <p:nvPr/>
        </p:nvSpPr>
        <p:spPr>
          <a:xfrm>
            <a:off x="1628546" y="2173529"/>
            <a:ext cx="3810305" cy="267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500" b="1">
                <a:solidFill>
                  <a:srgbClr val="88E555"/>
                </a:solidFill>
                <a:latin typeface="Poppins"/>
                <a:ea typeface="Poppins"/>
                <a:cs typeface="Poppins"/>
              </a:rPr>
              <a:t>Public Repository</a:t>
            </a:r>
            <a:endParaRPr sz="150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FEF4022D-E493-4C00-8470-A4FCC3516AE1}"/>
              </a:ext>
            </a:extLst>
          </p:cNvPr>
          <p:cNvSpPr>
            <a:spLocks noGrp="1"/>
          </p:cNvSpPr>
          <p:nvPr/>
        </p:nvSpPr>
        <p:spPr>
          <a:xfrm>
            <a:off x="1628546" y="2516429"/>
            <a:ext cx="5701284" cy="191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000">
                <a:solidFill>
                  <a:srgbClr val="D1D5DB"/>
                </a:solidFill>
                <a:latin typeface="Poppins"/>
                <a:ea typeface="Poppins"/>
                <a:cs typeface="Poppins"/>
              </a:rPr>
              <a:t>Clone and run inference following the README - no manual edits required</a:t>
            </a:r>
            <a:endParaRPr sz="1000"/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7379F5BC-BB2E-49A8-8A77-C43AD7E0D550}"/>
              </a:ext>
            </a:extLst>
          </p:cNvPr>
          <p:cNvSpPr>
            <a:spLocks noGrp="1"/>
          </p:cNvSpPr>
          <p:nvPr/>
        </p:nvSpPr>
        <p:spPr>
          <a:xfrm>
            <a:off x="1627632" y="2779776"/>
            <a:ext cx="9601200" cy="3108960"/>
          </a:xfrm>
          <a:prstGeom prst="roundRect">
            <a:avLst>
              <a:gd name="adj" fmla="val 6121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3B5C7BFA-93F7-4CBE-B016-734BAF9860A5}"/>
              </a:ext>
            </a:extLst>
          </p:cNvPr>
          <p:cNvSpPr>
            <a:spLocks noGrp="1"/>
          </p:cNvSpPr>
          <p:nvPr/>
        </p:nvSpPr>
        <p:spPr>
          <a:xfrm>
            <a:off x="1792224" y="3017520"/>
            <a:ext cx="9235440" cy="2651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200" i="1">
                <a:solidFill>
                  <a:srgbClr val="FFFFFF">
                    <a:alpha val="70000"/>
                  </a:srgbClr>
                </a:solidFill>
                <a:latin typeface="Poppins"/>
                <a:ea typeface="Poppins"/>
                <a:cs typeface="Poppins"/>
              </a:rPr>
              <a:t>GitHub: github.com/Vikaash301/kla-semicon
Contains: README.md, standalone inference.py (accepts positional or --input-dir/--output-dir args), training script, checkpoints/edgerestore_v2.pt, restored_test_outputs/ (400 images), requirements.txt, and requirements-freeze.txt (literal pip freeze).
Video: not provided (optional per template)</a:t>
            </a:r>
            <a:endParaRPr sz="1200"/>
          </a:p>
        </p:txBody>
      </p:sp>
      <p:pic>
        <p:nvPicPr>
          <p:cNvPr id="68" name="Picture 29"/>
          <p:cNvPicPr>
            <a:picLocks noChangeAspect="1"/>
          </p:cNvPicPr>
          <p:nvPr/>
        </p:nvPicPr>
        <p:blipFill>
          <a:blip r:embed="rId7"/>
          <a:stretch>
            <a:fillRect l="0" t="0" r="0" b="0"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2" name="Shape 1">
            <a:extLst>
              <a:ext uri="{FF2B5EF4-FFF2-40B4-BE49-F238E27FC236}">
                <a16:creationId xmlns:a16="http://schemas.microsoft.com/office/drawing/2014/main" id="{3E27E131-AC1D-E75C-0267-02565ACC1BC3}"/>
              </a:ext>
            </a:extLst>
          </p:cNvPr>
          <p:cNvSpPr>
            <a:spLocks noGrp="1"/>
          </p:cNvSpPr>
          <p:nvPr/>
        </p:nvSpPr>
        <p:spPr>
          <a:xfrm>
            <a:off x="571500" y="25971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0" name="Picture 32"/>
          <p:cNvPicPr>
            <a:picLocks noChangeAspect="1"/>
          </p:cNvPicPr>
          <p:nvPr/>
        </p:nvPicPr>
        <p:blipFill>
          <a:blip r:embed="rId8"/>
          <a:stretch>
            <a:fillRect l="0" t="0" r="0" b="0"/>
          </a:stretch>
        </p:blipFill>
        <p:spPr>
          <a:xfrm>
            <a:off x="1514101" y="39001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2026-08-14T17:47:43.8670000Z</dcterms:created>
  <dcterms:modified xsi:type="dcterms:W3CDTF">2026-08-14T17:47:43.8670000Z</dcterms:modified>
</coreProperties>
</file>